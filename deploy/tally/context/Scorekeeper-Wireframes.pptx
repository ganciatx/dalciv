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15800" cy="38433375"/>
  <p:notesSz cx="38433375" cy="12115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533400"/>
            <a:ext cx="1239079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Scorekeeper — wireframes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533400" y="1047750"/>
            <a:ext cx="66713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Lo-fi exploration. Two directions for the start flow, two each for Phase 10 + Yahtzee, plus entry-mechanic details and a tablet/desktop layout. Yellow marker = annotations (toggle in Tweaks).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3400" y="1866900"/>
            <a:ext cx="123907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Start flow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533400" y="2257425"/>
            <a:ext cx="1143000" cy="47625"/>
          </a:xfrm>
          <a:prstGeom prst="roundRect">
            <a:avLst>
              <a:gd name="adj" fmla="val 50000"/>
            </a:avLst>
          </a:prstGeom>
          <a:solidFill>
            <a:srgbClr val="2B2A28"/>
          </a:solidFill>
          <a:ln/>
        </p:spPr>
      </p:sp>
      <p:sp>
        <p:nvSpPr>
          <p:cNvPr id="6" name="Text 4"/>
          <p:cNvSpPr/>
          <p:nvPr/>
        </p:nvSpPr>
        <p:spPr>
          <a:xfrm>
            <a:off x="533400" y="2362200"/>
            <a:ext cx="123907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Landing → game picker → player setup. Two takes: a guided one-thing-per-screen stepper vs. a denser dashboard.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2450" y="2724150"/>
            <a:ext cx="1236983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86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A — guided stepper (big tap targets)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71500" y="3095625"/>
            <a:ext cx="72032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F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533400" y="3395663"/>
            <a:ext cx="2667000" cy="55245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40411" dir="2700000">
              <a:srgbClr val="2B2A2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2950" y="3548063"/>
            <a:ext cx="2800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9:41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688208" y="3548063"/>
            <a:ext cx="37884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▦ ▤ ▰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314301" y="5063951"/>
            <a:ext cx="1181398" cy="5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350" b="1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</a:t>
            </a:r>
            <a:endParaRPr lang="en-US" sz="4350" dirty="0"/>
          </a:p>
        </p:txBody>
      </p:sp>
      <p:sp>
        <p:nvSpPr>
          <p:cNvPr id="13" name="Shape 11"/>
          <p:cNvSpPr/>
          <p:nvPr/>
        </p:nvSpPr>
        <p:spPr>
          <a:xfrm>
            <a:off x="1200150" y="5637312"/>
            <a:ext cx="1333500" cy="85725"/>
          </a:xfrm>
          <a:prstGeom prst="roundRect">
            <a:avLst>
              <a:gd name="adj" fmla="val 50000"/>
            </a:avLst>
          </a:prstGeom>
          <a:solidFill>
            <a:srgbClr val="E7E5DF"/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" y="7296150"/>
            <a:ext cx="2133600" cy="528638"/>
          </a:xfrm>
          <a:prstGeom prst="roundRect">
            <a:avLst>
              <a:gd name="adj" fmla="val 25225"/>
            </a:avLst>
          </a:prstGeom>
          <a:solidFill>
            <a:srgbClr val="3866C4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26941" dir="2700000">
              <a:srgbClr val="2B2A2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3450" y="7467600"/>
            <a:ext cx="18669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New Game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0100" y="7939087"/>
            <a:ext cx="2133600" cy="490538"/>
          </a:xfrm>
          <a:prstGeom prst="roundRect">
            <a:avLst>
              <a:gd name="adj" fmla="val 27184"/>
            </a:avLst>
          </a:prstGeom>
          <a:solidFill>
            <a:srgbClr val="FFFFFF"/>
          </a:solidFill>
          <a:ln w="19050">
            <a:solidFill>
              <a:srgbClr val="2B2A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8091487"/>
            <a:ext cx="19050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History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" y="8582025"/>
            <a:ext cx="234696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account · saved on this device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619500" y="3095625"/>
            <a:ext cx="107200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F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game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3581400" y="3395663"/>
            <a:ext cx="2667000" cy="55245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40411" dir="2700000">
              <a:srgbClr val="2B2A28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52850" y="3567113"/>
            <a:ext cx="12211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‹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894013" y="3590925"/>
            <a:ext cx="97050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Pick a game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33800" y="3952875"/>
            <a:ext cx="2362200" cy="619125"/>
          </a:xfrm>
          <a:prstGeom prst="roundRect">
            <a:avLst>
              <a:gd name="adj" fmla="val 21538"/>
            </a:avLst>
          </a:prstGeom>
          <a:solidFill>
            <a:srgbClr val="E2E9F7"/>
          </a:solidFill>
          <a:ln w="19050">
            <a:solidFill>
              <a:srgbClr val="3866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76675" y="4095750"/>
            <a:ext cx="228409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Yahtzee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3876675" y="4300538"/>
            <a:ext cx="228409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categories · highest wins · 1–6 players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3733800" y="4686300"/>
            <a:ext cx="2362200" cy="619125"/>
          </a:xfrm>
          <a:prstGeom prst="roundRect">
            <a:avLst>
              <a:gd name="adj" fmla="val 21538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76675" y="4829175"/>
            <a:ext cx="228409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10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3876675" y="5033963"/>
            <a:ext cx="228409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phases · lowest wins · 2–6 players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3733800" y="5419725"/>
            <a:ext cx="2362200" cy="619125"/>
          </a:xfrm>
          <a:prstGeom prst="roundRect">
            <a:avLst>
              <a:gd name="adj" fmla="val 21538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76675" y="5562600"/>
            <a:ext cx="228409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Mexican Train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3876675" y="5767388"/>
            <a:ext cx="228409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 count · lowest wins · 2–8 players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3733800" y="6153150"/>
            <a:ext cx="2362200" cy="619125"/>
          </a:xfrm>
          <a:prstGeom prst="roundRect">
            <a:avLst>
              <a:gd name="adj" fmla="val 21538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6675" y="6296025"/>
            <a:ext cx="228409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Generic Scoreboard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3876675" y="6500813"/>
            <a:ext cx="228409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Anything else · you pick the rules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3714750" y="8296275"/>
            <a:ext cx="2400300" cy="490538"/>
          </a:xfrm>
          <a:prstGeom prst="roundRect">
            <a:avLst>
              <a:gd name="adj" fmla="val 27184"/>
            </a:avLst>
          </a:prstGeom>
          <a:solidFill>
            <a:srgbClr val="3866C4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26941" dir="2700000">
              <a:srgbClr val="2B2A28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829050" y="8448675"/>
            <a:ext cx="21717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Continue 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67500" y="3095625"/>
            <a:ext cx="10319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F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players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6629400" y="3395663"/>
            <a:ext cx="2667000" cy="55245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40411" dir="2700000">
              <a:srgbClr val="2B2A28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800850" y="3567113"/>
            <a:ext cx="12211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‹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942013" y="3590925"/>
            <a:ext cx="93687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players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781800" y="3914775"/>
            <a:ext cx="625673" cy="204788"/>
          </a:xfrm>
          <a:prstGeom prst="roundRect">
            <a:avLst>
              <a:gd name="adj" fmla="val 37209"/>
            </a:avLst>
          </a:prstGeom>
          <a:solidFill>
            <a:srgbClr val="E2E9F7"/>
          </a:solidFill>
          <a:ln/>
        </p:spPr>
      </p:sp>
      <p:sp>
        <p:nvSpPr>
          <p:cNvPr id="42" name="Text 40"/>
          <p:cNvSpPr/>
          <p:nvPr/>
        </p:nvSpPr>
        <p:spPr>
          <a:xfrm>
            <a:off x="6867525" y="3952875"/>
            <a:ext cx="53042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66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10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6781800" y="4252913"/>
            <a:ext cx="2362200" cy="447675"/>
          </a:xfrm>
          <a:prstGeom prst="roundRect">
            <a:avLst>
              <a:gd name="adj" fmla="val 25532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15150" y="4391025"/>
            <a:ext cx="171450" cy="171450"/>
          </a:xfrm>
          <a:prstGeom prst="ellipse">
            <a:avLst/>
          </a:prstGeom>
          <a:solidFill>
            <a:srgbClr val="3866C4"/>
          </a:solidFill>
          <a:ln/>
        </p:spPr>
      </p:sp>
      <p:sp>
        <p:nvSpPr>
          <p:cNvPr id="45" name="Text 43"/>
          <p:cNvSpPr/>
          <p:nvPr/>
        </p:nvSpPr>
        <p:spPr>
          <a:xfrm>
            <a:off x="7162800" y="4395788"/>
            <a:ext cx="3501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Alex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894490" y="4386263"/>
            <a:ext cx="19236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6B2A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✕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781800" y="4795838"/>
            <a:ext cx="2362200" cy="447675"/>
          </a:xfrm>
          <a:prstGeom prst="roundRect">
            <a:avLst>
              <a:gd name="adj" fmla="val 25532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15150" y="4933950"/>
            <a:ext cx="171450" cy="171450"/>
          </a:xfrm>
          <a:prstGeom prst="ellipse">
            <a:avLst/>
          </a:prstGeom>
          <a:solidFill>
            <a:srgbClr val="4A8A5C"/>
          </a:solidFill>
          <a:ln/>
        </p:spPr>
      </p:sp>
      <p:sp>
        <p:nvSpPr>
          <p:cNvPr id="49" name="Text 47"/>
          <p:cNvSpPr/>
          <p:nvPr/>
        </p:nvSpPr>
        <p:spPr>
          <a:xfrm>
            <a:off x="7162800" y="4938713"/>
            <a:ext cx="36016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894490" y="4929188"/>
            <a:ext cx="19236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6B2A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✕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781800" y="5338763"/>
            <a:ext cx="2362200" cy="447675"/>
          </a:xfrm>
          <a:prstGeom prst="roundRect">
            <a:avLst>
              <a:gd name="adj" fmla="val 25532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15150" y="5476875"/>
            <a:ext cx="171450" cy="171450"/>
          </a:xfrm>
          <a:prstGeom prst="ellipse">
            <a:avLst/>
          </a:prstGeom>
          <a:solidFill>
            <a:srgbClr val="C4683A"/>
          </a:solidFill>
          <a:ln/>
        </p:spPr>
      </p:sp>
      <p:sp>
        <p:nvSpPr>
          <p:cNvPr id="53" name="Text 51"/>
          <p:cNvSpPr/>
          <p:nvPr/>
        </p:nvSpPr>
        <p:spPr>
          <a:xfrm>
            <a:off x="7162800" y="5481638"/>
            <a:ext cx="5184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Jordan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894490" y="5472113"/>
            <a:ext cx="19236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6B2A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✕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781800" y="5881688"/>
            <a:ext cx="2362200" cy="428625"/>
          </a:xfrm>
          <a:prstGeom prst="roundRect">
            <a:avLst>
              <a:gd name="adj" fmla="val 26667"/>
            </a:avLst>
          </a:prstGeom>
          <a:ln w="19050">
            <a:solidFill>
              <a:srgbClr val="B6B2A9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6915150" y="6015038"/>
            <a:ext cx="21717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Add player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800850" y="6405563"/>
            <a:ext cx="259842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2–6 players · 3 added</a:t>
            </a:r>
            <a:endParaRPr lang="en-US" sz="825" dirty="0"/>
          </a:p>
        </p:txBody>
      </p:sp>
      <p:sp>
        <p:nvSpPr>
          <p:cNvPr id="58" name="Shape 56"/>
          <p:cNvSpPr/>
          <p:nvPr/>
        </p:nvSpPr>
        <p:spPr>
          <a:xfrm>
            <a:off x="6762750" y="8258175"/>
            <a:ext cx="2400300" cy="528638"/>
          </a:xfrm>
          <a:prstGeom prst="roundRect">
            <a:avLst>
              <a:gd name="adj" fmla="val 25225"/>
            </a:avLst>
          </a:prstGeom>
          <a:solidFill>
            <a:srgbClr val="3866C4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26941" dir="2700000">
              <a:srgbClr val="2B2A28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896100" y="8429625"/>
            <a:ext cx="21336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Game →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677400" y="3476625"/>
            <a:ext cx="198120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One decision per screen — under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highlight>
                  <a:srgbClr val="F6E98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30 sec to start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9677400" y="4342358"/>
            <a:ext cx="198120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game = blue fill. Min/max enforced from the game definition.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9677400" y="5208091"/>
            <a:ext cx="198120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Auto-assigned color dot per player carries into the score table.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552450" y="9301163"/>
            <a:ext cx="1236983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86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B — dashboard + grid + chip entry (denser)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571500" y="9672638"/>
            <a:ext cx="72032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F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533400" y="9972675"/>
            <a:ext cx="2667000" cy="55245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40411" dir="2700000">
              <a:srgbClr val="2B2A28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704850" y="10144125"/>
            <a:ext cx="60974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</a:t>
            </a:r>
            <a:endParaRPr lang="en-US" sz="2100" dirty="0"/>
          </a:p>
        </p:txBody>
      </p:sp>
      <p:sp>
        <p:nvSpPr>
          <p:cNvPr id="67" name="Text 65"/>
          <p:cNvSpPr/>
          <p:nvPr/>
        </p:nvSpPr>
        <p:spPr>
          <a:xfrm>
            <a:off x="2521000" y="10220325"/>
            <a:ext cx="5841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History ↗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85800" y="10587038"/>
            <a:ext cx="259842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PROGRESS</a:t>
            </a:r>
            <a:endParaRPr lang="en-US" sz="825" dirty="0"/>
          </a:p>
        </p:txBody>
      </p:sp>
      <p:sp>
        <p:nvSpPr>
          <p:cNvPr id="69" name="Shape 67"/>
          <p:cNvSpPr/>
          <p:nvPr/>
        </p:nvSpPr>
        <p:spPr>
          <a:xfrm>
            <a:off x="685800" y="10791825"/>
            <a:ext cx="2362200" cy="847725"/>
          </a:xfrm>
          <a:prstGeom prst="roundRect">
            <a:avLst>
              <a:gd name="adj" fmla="val 15730"/>
            </a:avLst>
          </a:prstGeom>
          <a:solidFill>
            <a:srgbClr val="E2E9F7"/>
          </a:solidFill>
          <a:ln w="19050">
            <a:solidFill>
              <a:srgbClr val="3866C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8675" y="10934700"/>
            <a:ext cx="65432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10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2376488" y="10934700"/>
            <a:ext cx="60483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866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Round 5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828675" y="11134725"/>
            <a:ext cx="228409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Alex · Sam · Jordan · Casey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828675" y="11358563"/>
            <a:ext cx="228409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66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Resume →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85800" y="11791950"/>
            <a:ext cx="259842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RECENT</a:t>
            </a:r>
            <a:endParaRPr lang="en-US" sz="825" dirty="0"/>
          </a:p>
        </p:txBody>
      </p:sp>
      <p:sp>
        <p:nvSpPr>
          <p:cNvPr id="75" name="Shape 73"/>
          <p:cNvSpPr/>
          <p:nvPr/>
        </p:nvSpPr>
        <p:spPr>
          <a:xfrm>
            <a:off x="685800" y="12234863"/>
            <a:ext cx="2362200" cy="14288"/>
          </a:xfrm>
          <a:prstGeom prst="rect">
            <a:avLst/>
          </a:prstGeom>
          <a:solidFill>
            <a:srgbClr val="ECEBE6"/>
          </a:solidFill>
          <a:ln/>
        </p:spPr>
      </p:sp>
      <p:sp>
        <p:nvSpPr>
          <p:cNvPr id="76" name="Text 74"/>
          <p:cNvSpPr/>
          <p:nvPr/>
        </p:nvSpPr>
        <p:spPr>
          <a:xfrm>
            <a:off x="685800" y="11996738"/>
            <a:ext cx="5419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Yahtzee</a:t>
            </a:r>
            <a:endParaRPr lang="en-US" sz="975" dirty="0"/>
          </a:p>
        </p:txBody>
      </p:sp>
      <p:sp>
        <p:nvSpPr>
          <p:cNvPr id="77" name="Text 75"/>
          <p:cNvSpPr/>
          <p:nvPr/>
        </p:nvSpPr>
        <p:spPr>
          <a:xfrm>
            <a:off x="2355056" y="12008644"/>
            <a:ext cx="76914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 won · Tue</a:t>
            </a:r>
            <a:endParaRPr lang="en-US" sz="825" dirty="0"/>
          </a:p>
        </p:txBody>
      </p:sp>
      <p:sp>
        <p:nvSpPr>
          <p:cNvPr id="78" name="Shape 76"/>
          <p:cNvSpPr/>
          <p:nvPr/>
        </p:nvSpPr>
        <p:spPr>
          <a:xfrm>
            <a:off x="685800" y="12573000"/>
            <a:ext cx="2362200" cy="14288"/>
          </a:xfrm>
          <a:prstGeom prst="rect">
            <a:avLst/>
          </a:prstGeom>
          <a:solidFill>
            <a:srgbClr val="ECEBE6"/>
          </a:solidFill>
          <a:ln/>
        </p:spPr>
      </p:sp>
      <p:sp>
        <p:nvSpPr>
          <p:cNvPr id="79" name="Text 77"/>
          <p:cNvSpPr/>
          <p:nvPr/>
        </p:nvSpPr>
        <p:spPr>
          <a:xfrm>
            <a:off x="685800" y="12334875"/>
            <a:ext cx="8969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Mexican Train</a:t>
            </a:r>
            <a:endParaRPr lang="en-US" sz="975" dirty="0"/>
          </a:p>
        </p:txBody>
      </p:sp>
      <p:sp>
        <p:nvSpPr>
          <p:cNvPr id="80" name="Text 78"/>
          <p:cNvSpPr/>
          <p:nvPr/>
        </p:nvSpPr>
        <p:spPr>
          <a:xfrm>
            <a:off x="2347540" y="12346781"/>
            <a:ext cx="77666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Alex won · Sun</a:t>
            </a:r>
            <a:endParaRPr lang="en-US" sz="825" dirty="0"/>
          </a:p>
        </p:txBody>
      </p:sp>
      <p:sp>
        <p:nvSpPr>
          <p:cNvPr id="81" name="Shape 79"/>
          <p:cNvSpPr/>
          <p:nvPr/>
        </p:nvSpPr>
        <p:spPr>
          <a:xfrm>
            <a:off x="2419350" y="14716125"/>
            <a:ext cx="571500" cy="571500"/>
          </a:xfrm>
          <a:prstGeom prst="ellipse">
            <a:avLst/>
          </a:prstGeom>
          <a:solidFill>
            <a:srgbClr val="3866C4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26941" dir="2700000">
              <a:srgbClr val="2B2A28">
                <a:alpha val="2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2400300" y="147351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</a:t>
            </a:r>
            <a:endParaRPr lang="en-US" sz="2250" dirty="0"/>
          </a:p>
        </p:txBody>
      </p:sp>
      <p:sp>
        <p:nvSpPr>
          <p:cNvPr id="83" name="Text 81"/>
          <p:cNvSpPr/>
          <p:nvPr/>
        </p:nvSpPr>
        <p:spPr>
          <a:xfrm>
            <a:off x="3619500" y="9672638"/>
            <a:ext cx="107200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F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game</a:t>
            </a:r>
            <a:endParaRPr lang="en-US" sz="1425" dirty="0"/>
          </a:p>
        </p:txBody>
      </p:sp>
      <p:sp>
        <p:nvSpPr>
          <p:cNvPr id="84" name="Shape 82"/>
          <p:cNvSpPr/>
          <p:nvPr/>
        </p:nvSpPr>
        <p:spPr>
          <a:xfrm>
            <a:off x="3581400" y="9972675"/>
            <a:ext cx="2667000" cy="55245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40411" dir="2700000">
              <a:srgbClr val="2B2A28">
                <a:alpha val="12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3752850" y="10144125"/>
            <a:ext cx="12211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‹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3894013" y="10167938"/>
            <a:ext cx="84921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game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3733800" y="10529888"/>
            <a:ext cx="1123950" cy="1123950"/>
          </a:xfrm>
          <a:prstGeom prst="roundRect">
            <a:avLst>
              <a:gd name="adj" fmla="val 11864"/>
            </a:avLst>
          </a:prstGeom>
          <a:solidFill>
            <a:srgbClr val="E2E9F7"/>
          </a:solidFill>
          <a:ln w="19050">
            <a:solidFill>
              <a:srgbClr val="3866C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204022" y="10794206"/>
            <a:ext cx="25970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⚄</a:t>
            </a:r>
            <a:endParaRPr lang="en-US" sz="2400" dirty="0"/>
          </a:p>
        </p:txBody>
      </p:sp>
      <p:sp>
        <p:nvSpPr>
          <p:cNvPr id="89" name="Text 87"/>
          <p:cNvSpPr/>
          <p:nvPr/>
        </p:nvSpPr>
        <p:spPr>
          <a:xfrm>
            <a:off x="4062859" y="11237119"/>
            <a:ext cx="5419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Yahtzee</a:t>
            </a:r>
            <a:endParaRPr lang="en-US" sz="975" dirty="0"/>
          </a:p>
        </p:txBody>
      </p:sp>
      <p:sp>
        <p:nvSpPr>
          <p:cNvPr id="90" name="Shape 88"/>
          <p:cNvSpPr/>
          <p:nvPr/>
        </p:nvSpPr>
        <p:spPr>
          <a:xfrm>
            <a:off x="4972050" y="10529888"/>
            <a:ext cx="1123950" cy="1123950"/>
          </a:xfrm>
          <a:prstGeom prst="roundRect">
            <a:avLst>
              <a:gd name="adj" fmla="val 11864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427092" y="10784681"/>
            <a:ext cx="2900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🂡</a:t>
            </a:r>
            <a:endParaRPr lang="en-US" sz="2400" dirty="0"/>
          </a:p>
        </p:txBody>
      </p:sp>
      <p:sp>
        <p:nvSpPr>
          <p:cNvPr id="92" name="Text 90"/>
          <p:cNvSpPr/>
          <p:nvPr/>
        </p:nvSpPr>
        <p:spPr>
          <a:xfrm>
            <a:off x="5265613" y="11246644"/>
            <a:ext cx="61302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10</a:t>
            </a:r>
            <a:endParaRPr lang="en-US" sz="975" dirty="0"/>
          </a:p>
        </p:txBody>
      </p:sp>
      <p:sp>
        <p:nvSpPr>
          <p:cNvPr id="93" name="Shape 91"/>
          <p:cNvSpPr/>
          <p:nvPr/>
        </p:nvSpPr>
        <p:spPr>
          <a:xfrm>
            <a:off x="3733800" y="11768138"/>
            <a:ext cx="1123950" cy="1123950"/>
          </a:xfrm>
          <a:prstGeom prst="roundRect">
            <a:avLst>
              <a:gd name="adj" fmla="val 11864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220245" y="12034838"/>
            <a:ext cx="22718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🁫</a:t>
            </a:r>
            <a:endParaRPr lang="en-US" sz="2250" dirty="0"/>
          </a:p>
        </p:txBody>
      </p:sp>
      <p:sp>
        <p:nvSpPr>
          <p:cNvPr id="95" name="Text 93"/>
          <p:cNvSpPr/>
          <p:nvPr/>
        </p:nvSpPr>
        <p:spPr>
          <a:xfrm>
            <a:off x="3885381" y="12472988"/>
            <a:ext cx="8969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Mexican Train</a:t>
            </a:r>
            <a:endParaRPr lang="en-US" sz="975" dirty="0"/>
          </a:p>
        </p:txBody>
      </p:sp>
      <p:sp>
        <p:nvSpPr>
          <p:cNvPr id="96" name="Shape 94"/>
          <p:cNvSpPr/>
          <p:nvPr/>
        </p:nvSpPr>
        <p:spPr>
          <a:xfrm>
            <a:off x="4972050" y="11768138"/>
            <a:ext cx="1123950" cy="1123950"/>
          </a:xfrm>
          <a:prstGeom prst="roundRect">
            <a:avLst>
              <a:gd name="adj" fmla="val 11864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45696" y="12039600"/>
            <a:ext cx="25285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∑</a:t>
            </a:r>
            <a:endParaRPr lang="en-US" sz="2250" dirty="0"/>
          </a:p>
        </p:txBody>
      </p:sp>
      <p:sp>
        <p:nvSpPr>
          <p:cNvPr id="98" name="Text 96"/>
          <p:cNvSpPr/>
          <p:nvPr/>
        </p:nvSpPr>
        <p:spPr>
          <a:xfrm>
            <a:off x="5303639" y="12468225"/>
            <a:ext cx="5369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Generic</a:t>
            </a:r>
            <a:endParaRPr lang="en-US" sz="975" dirty="0"/>
          </a:p>
        </p:txBody>
      </p:sp>
      <p:sp>
        <p:nvSpPr>
          <p:cNvPr id="99" name="Shape 97"/>
          <p:cNvSpPr/>
          <p:nvPr/>
        </p:nvSpPr>
        <p:spPr>
          <a:xfrm>
            <a:off x="3714750" y="14873288"/>
            <a:ext cx="2400300" cy="490538"/>
          </a:xfrm>
          <a:prstGeom prst="roundRect">
            <a:avLst>
              <a:gd name="adj" fmla="val 27184"/>
            </a:avLst>
          </a:prstGeom>
          <a:solidFill>
            <a:srgbClr val="3866C4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26941" dir="2700000">
              <a:srgbClr val="2B2A28">
                <a:alpha val="18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3829050" y="15025688"/>
            <a:ext cx="21717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→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6667500" y="9672638"/>
            <a:ext cx="131648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F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(chips)</a:t>
            </a:r>
            <a:endParaRPr lang="en-US" sz="1425" dirty="0"/>
          </a:p>
        </p:txBody>
      </p:sp>
      <p:sp>
        <p:nvSpPr>
          <p:cNvPr id="102" name="Shape 100"/>
          <p:cNvSpPr/>
          <p:nvPr/>
        </p:nvSpPr>
        <p:spPr>
          <a:xfrm>
            <a:off x="6629400" y="9972675"/>
            <a:ext cx="2667000" cy="55245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40411" dir="2700000">
              <a:srgbClr val="2B2A28">
                <a:alpha val="12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6800850" y="10144125"/>
            <a:ext cx="12211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‹</a:t>
            </a:r>
            <a:endParaRPr lang="en-US" sz="1500" dirty="0"/>
          </a:p>
        </p:txBody>
      </p:sp>
      <p:sp>
        <p:nvSpPr>
          <p:cNvPr id="104" name="Text 102"/>
          <p:cNvSpPr/>
          <p:nvPr/>
        </p:nvSpPr>
        <p:spPr>
          <a:xfrm>
            <a:off x="6942013" y="10167938"/>
            <a:ext cx="134398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Generic · players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6781800" y="10529888"/>
            <a:ext cx="2362200" cy="533400"/>
          </a:xfrm>
          <a:prstGeom prst="roundRect">
            <a:avLst>
              <a:gd name="adj" fmla="val 21429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905625" y="10720388"/>
            <a:ext cx="19278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 a name…</a:t>
            </a:r>
            <a:endParaRPr lang="en-US" sz="975" dirty="0"/>
          </a:p>
        </p:txBody>
      </p:sp>
      <p:sp>
        <p:nvSpPr>
          <p:cNvPr id="107" name="Shape 105"/>
          <p:cNvSpPr/>
          <p:nvPr/>
        </p:nvSpPr>
        <p:spPr>
          <a:xfrm>
            <a:off x="8734425" y="10653713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3866C4"/>
          </a:solidFill>
          <a:ln/>
        </p:spPr>
      </p:sp>
      <p:sp>
        <p:nvSpPr>
          <p:cNvPr id="108" name="Text 106"/>
          <p:cNvSpPr/>
          <p:nvPr/>
        </p:nvSpPr>
        <p:spPr>
          <a:xfrm>
            <a:off x="8696325" y="10653713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</a:t>
            </a:r>
            <a:endParaRPr lang="en-US" sz="1500" dirty="0"/>
          </a:p>
        </p:txBody>
      </p:sp>
      <p:sp>
        <p:nvSpPr>
          <p:cNvPr id="109" name="Shape 107"/>
          <p:cNvSpPr/>
          <p:nvPr/>
        </p:nvSpPr>
        <p:spPr>
          <a:xfrm>
            <a:off x="6781800" y="11196638"/>
            <a:ext cx="825029" cy="304800"/>
          </a:xfrm>
          <a:prstGeom prst="roundRect">
            <a:avLst>
              <a:gd name="adj" fmla="val 50000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896100" y="11291888"/>
            <a:ext cx="114300" cy="114300"/>
          </a:xfrm>
          <a:prstGeom prst="ellipse">
            <a:avLst/>
          </a:prstGeom>
          <a:solidFill>
            <a:srgbClr val="3866C4"/>
          </a:solidFill>
          <a:ln/>
        </p:spPr>
      </p:sp>
      <p:sp>
        <p:nvSpPr>
          <p:cNvPr id="111" name="Text 109"/>
          <p:cNvSpPr/>
          <p:nvPr/>
        </p:nvSpPr>
        <p:spPr>
          <a:xfrm>
            <a:off x="7067550" y="11272838"/>
            <a:ext cx="33054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Alex</a:t>
            </a:r>
            <a:endParaRPr lang="en-US" sz="975" dirty="0"/>
          </a:p>
        </p:txBody>
      </p:sp>
      <p:sp>
        <p:nvSpPr>
          <p:cNvPr id="112" name="Text 110"/>
          <p:cNvSpPr/>
          <p:nvPr/>
        </p:nvSpPr>
        <p:spPr>
          <a:xfrm>
            <a:off x="7398097" y="11272838"/>
            <a:ext cx="1706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6B2A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✕</a:t>
            </a:r>
            <a:endParaRPr lang="en-US" sz="975" dirty="0"/>
          </a:p>
        </p:txBody>
      </p:sp>
      <p:sp>
        <p:nvSpPr>
          <p:cNvPr id="113" name="Shape 111"/>
          <p:cNvSpPr/>
          <p:nvPr/>
        </p:nvSpPr>
        <p:spPr>
          <a:xfrm>
            <a:off x="7683029" y="11196638"/>
            <a:ext cx="834330" cy="304800"/>
          </a:xfrm>
          <a:prstGeom prst="roundRect">
            <a:avLst>
              <a:gd name="adj" fmla="val 50000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797329" y="11291888"/>
            <a:ext cx="114300" cy="114300"/>
          </a:xfrm>
          <a:prstGeom prst="ellipse">
            <a:avLst/>
          </a:prstGeom>
          <a:solidFill>
            <a:srgbClr val="4A8A5C"/>
          </a:solidFill>
          <a:ln/>
        </p:spPr>
      </p:sp>
      <p:sp>
        <p:nvSpPr>
          <p:cNvPr id="115" name="Text 113"/>
          <p:cNvSpPr/>
          <p:nvPr/>
        </p:nvSpPr>
        <p:spPr>
          <a:xfrm>
            <a:off x="7968779" y="11272838"/>
            <a:ext cx="33984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</a:t>
            </a:r>
            <a:endParaRPr lang="en-US" sz="975" dirty="0"/>
          </a:p>
        </p:txBody>
      </p:sp>
      <p:sp>
        <p:nvSpPr>
          <p:cNvPr id="116" name="Text 114"/>
          <p:cNvSpPr/>
          <p:nvPr/>
        </p:nvSpPr>
        <p:spPr>
          <a:xfrm>
            <a:off x="8308628" y="11272838"/>
            <a:ext cx="1706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6B2A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✕</a:t>
            </a:r>
            <a:endParaRPr lang="en-US" sz="975" dirty="0"/>
          </a:p>
        </p:txBody>
      </p:sp>
      <p:sp>
        <p:nvSpPr>
          <p:cNvPr id="117" name="Shape 115"/>
          <p:cNvSpPr/>
          <p:nvPr/>
        </p:nvSpPr>
        <p:spPr>
          <a:xfrm>
            <a:off x="6781800" y="11577638"/>
            <a:ext cx="981298" cy="304800"/>
          </a:xfrm>
          <a:prstGeom prst="roundRect">
            <a:avLst>
              <a:gd name="adj" fmla="val 50000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896100" y="11672888"/>
            <a:ext cx="114300" cy="114300"/>
          </a:xfrm>
          <a:prstGeom prst="ellipse">
            <a:avLst/>
          </a:prstGeom>
          <a:solidFill>
            <a:srgbClr val="C4683A"/>
          </a:solidFill>
          <a:ln/>
        </p:spPr>
      </p:sp>
      <p:sp>
        <p:nvSpPr>
          <p:cNvPr id="119" name="Text 117"/>
          <p:cNvSpPr/>
          <p:nvPr/>
        </p:nvSpPr>
        <p:spPr>
          <a:xfrm>
            <a:off x="7067550" y="11653838"/>
            <a:ext cx="48681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Jordan</a:t>
            </a:r>
            <a:endParaRPr lang="en-US" sz="975" dirty="0"/>
          </a:p>
        </p:txBody>
      </p:sp>
      <p:sp>
        <p:nvSpPr>
          <p:cNvPr id="120" name="Text 118"/>
          <p:cNvSpPr/>
          <p:nvPr/>
        </p:nvSpPr>
        <p:spPr>
          <a:xfrm>
            <a:off x="7554367" y="11653838"/>
            <a:ext cx="1706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6B2A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✕</a:t>
            </a:r>
            <a:endParaRPr lang="en-US" sz="975" dirty="0"/>
          </a:p>
        </p:txBody>
      </p:sp>
      <p:sp>
        <p:nvSpPr>
          <p:cNvPr id="121" name="Shape 119"/>
          <p:cNvSpPr/>
          <p:nvPr/>
        </p:nvSpPr>
        <p:spPr>
          <a:xfrm>
            <a:off x="7839298" y="11577638"/>
            <a:ext cx="935385" cy="304800"/>
          </a:xfrm>
          <a:prstGeom prst="roundRect">
            <a:avLst>
              <a:gd name="adj" fmla="val 50000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953598" y="11672888"/>
            <a:ext cx="114300" cy="114300"/>
          </a:xfrm>
          <a:prstGeom prst="ellipse">
            <a:avLst/>
          </a:prstGeom>
          <a:solidFill>
            <a:srgbClr val="7A5FB0"/>
          </a:solidFill>
          <a:ln/>
        </p:spPr>
      </p:sp>
      <p:sp>
        <p:nvSpPr>
          <p:cNvPr id="123" name="Text 121"/>
          <p:cNvSpPr/>
          <p:nvPr/>
        </p:nvSpPr>
        <p:spPr>
          <a:xfrm>
            <a:off x="8125048" y="11653838"/>
            <a:ext cx="44090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Casey</a:t>
            </a:r>
            <a:endParaRPr lang="en-US" sz="975" dirty="0"/>
          </a:p>
        </p:txBody>
      </p:sp>
      <p:sp>
        <p:nvSpPr>
          <p:cNvPr id="124" name="Text 122"/>
          <p:cNvSpPr/>
          <p:nvPr/>
        </p:nvSpPr>
        <p:spPr>
          <a:xfrm>
            <a:off x="8565952" y="11653838"/>
            <a:ext cx="1706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6B2A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✕</a:t>
            </a:r>
            <a:endParaRPr lang="en-US" sz="975" dirty="0"/>
          </a:p>
        </p:txBody>
      </p:sp>
      <p:sp>
        <p:nvSpPr>
          <p:cNvPr id="125" name="Text 123"/>
          <p:cNvSpPr/>
          <p:nvPr/>
        </p:nvSpPr>
        <p:spPr>
          <a:xfrm>
            <a:off x="6781800" y="12091988"/>
            <a:ext cx="259842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WIN CONDITION · generic only</a:t>
            </a:r>
            <a:endParaRPr lang="en-US" sz="825" dirty="0"/>
          </a:p>
        </p:txBody>
      </p:sp>
      <p:sp>
        <p:nvSpPr>
          <p:cNvPr id="126" name="Shape 124"/>
          <p:cNvSpPr/>
          <p:nvPr/>
        </p:nvSpPr>
        <p:spPr>
          <a:xfrm>
            <a:off x="6781800" y="12296775"/>
            <a:ext cx="2362200" cy="400050"/>
          </a:xfrm>
          <a:prstGeom prst="roundRect">
            <a:avLst>
              <a:gd name="adj" fmla="val 28571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800850" y="12315825"/>
            <a:ext cx="1162050" cy="361950"/>
          </a:xfrm>
          <a:prstGeom prst="rect">
            <a:avLst/>
          </a:prstGeom>
          <a:solidFill>
            <a:srgbClr val="3866C4"/>
          </a:solidFill>
          <a:ln/>
        </p:spPr>
      </p:sp>
      <p:sp>
        <p:nvSpPr>
          <p:cNvPr id="128" name="Text 126"/>
          <p:cNvSpPr/>
          <p:nvPr/>
        </p:nvSpPr>
        <p:spPr>
          <a:xfrm>
            <a:off x="6867525" y="12420600"/>
            <a:ext cx="1028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Highest</a:t>
            </a:r>
            <a:endParaRPr lang="en-US" sz="975" dirty="0"/>
          </a:p>
        </p:txBody>
      </p:sp>
      <p:sp>
        <p:nvSpPr>
          <p:cNvPr id="129" name="Text 127"/>
          <p:cNvSpPr/>
          <p:nvPr/>
        </p:nvSpPr>
        <p:spPr>
          <a:xfrm>
            <a:off x="8029575" y="12420600"/>
            <a:ext cx="1028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Lowest</a:t>
            </a:r>
            <a:endParaRPr lang="en-US" sz="975" dirty="0"/>
          </a:p>
        </p:txBody>
      </p:sp>
      <p:sp>
        <p:nvSpPr>
          <p:cNvPr id="130" name="Shape 128"/>
          <p:cNvSpPr/>
          <p:nvPr/>
        </p:nvSpPr>
        <p:spPr>
          <a:xfrm>
            <a:off x="6762750" y="14835187"/>
            <a:ext cx="2400300" cy="528638"/>
          </a:xfrm>
          <a:prstGeom prst="roundRect">
            <a:avLst>
              <a:gd name="adj" fmla="val 25225"/>
            </a:avLst>
          </a:prstGeom>
          <a:solidFill>
            <a:srgbClr val="3866C4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26941" dir="2700000">
              <a:srgbClr val="2B2A28">
                <a:alpha val="18000"/>
              </a:srgbClr>
            </a:outerShdw>
          </a:effectLst>
        </p:spPr>
      </p:sp>
      <p:sp>
        <p:nvSpPr>
          <p:cNvPr id="131" name="Text 129"/>
          <p:cNvSpPr/>
          <p:nvPr/>
        </p:nvSpPr>
        <p:spPr>
          <a:xfrm>
            <a:off x="6896100" y="15006637"/>
            <a:ext cx="21336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→</a:t>
            </a:r>
            <a:endParaRPr lang="en-US" sz="1200" dirty="0"/>
          </a:p>
        </p:txBody>
      </p:sp>
      <p:sp>
        <p:nvSpPr>
          <p:cNvPr id="132" name="Text 130"/>
          <p:cNvSpPr/>
          <p:nvPr/>
        </p:nvSpPr>
        <p:spPr>
          <a:xfrm>
            <a:off x="9677400" y="10053638"/>
            <a:ext cx="198120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players land on a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highlight>
                  <a:srgbClr val="F6E98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resume card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recent list, not a blank screen.</a:t>
            </a:r>
            <a:endParaRPr lang="en-US" sz="1350" dirty="0"/>
          </a:p>
        </p:txBody>
      </p:sp>
      <p:sp>
        <p:nvSpPr>
          <p:cNvPr id="133" name="Text 131"/>
          <p:cNvSpPr/>
          <p:nvPr/>
        </p:nvSpPr>
        <p:spPr>
          <a:xfrm>
            <a:off x="9677400" y="11150798"/>
            <a:ext cx="198120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2×2 tile grid is faster to scan than a stacked list.</a:t>
            </a:r>
            <a:endParaRPr lang="en-US" sz="1350" dirty="0"/>
          </a:p>
        </p:txBody>
      </p:sp>
      <p:sp>
        <p:nvSpPr>
          <p:cNvPr id="134" name="Text 132"/>
          <p:cNvSpPr/>
          <p:nvPr/>
        </p:nvSpPr>
        <p:spPr>
          <a:xfrm>
            <a:off x="9677400" y="11785104"/>
            <a:ext cx="198120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 entry: one input, tap + repeatedly. Win-condition toggle only shows for Generic.</a:t>
            </a:r>
            <a:endParaRPr lang="en-US" sz="1350" dirty="0"/>
          </a:p>
        </p:txBody>
      </p:sp>
      <p:sp>
        <p:nvSpPr>
          <p:cNvPr id="135" name="Text 133"/>
          <p:cNvSpPr/>
          <p:nvPr/>
        </p:nvSpPr>
        <p:spPr>
          <a:xfrm>
            <a:off x="533400" y="15992475"/>
            <a:ext cx="123907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Phase 10 — live scoring</a:t>
            </a:r>
            <a:endParaRPr lang="en-US" sz="2550" dirty="0"/>
          </a:p>
        </p:txBody>
      </p:sp>
      <p:sp>
        <p:nvSpPr>
          <p:cNvPr id="136" name="Shape 134"/>
          <p:cNvSpPr/>
          <p:nvPr/>
        </p:nvSpPr>
        <p:spPr>
          <a:xfrm>
            <a:off x="533400" y="16383000"/>
            <a:ext cx="1143000" cy="47625"/>
          </a:xfrm>
          <a:prstGeom prst="roundRect">
            <a:avLst>
              <a:gd name="adj" fmla="val 50000"/>
            </a:avLst>
          </a:prstGeom>
          <a:solidFill>
            <a:srgbClr val="2B2A28"/>
          </a:solidFill>
          <a:ln/>
        </p:spPr>
      </p:sp>
      <p:sp>
        <p:nvSpPr>
          <p:cNvPr id="137" name="Text 135"/>
          <p:cNvSpPr/>
          <p:nvPr/>
        </p:nvSpPr>
        <p:spPr>
          <a:xfrm>
            <a:off x="533400" y="16487775"/>
            <a:ext cx="123907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tension: show each player's current phase while entering round scores, and survive 4–6 players. Two layouts.</a:t>
            </a:r>
            <a:endParaRPr lang="en-US" sz="975" dirty="0"/>
          </a:p>
        </p:txBody>
      </p:sp>
      <p:sp>
        <p:nvSpPr>
          <p:cNvPr id="138" name="Text 136"/>
          <p:cNvSpPr/>
          <p:nvPr/>
        </p:nvSpPr>
        <p:spPr>
          <a:xfrm>
            <a:off x="571500" y="16849725"/>
            <a:ext cx="244567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F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horizontal spreadsheet</a:t>
            </a:r>
            <a:endParaRPr lang="en-US" sz="1425" dirty="0"/>
          </a:p>
        </p:txBody>
      </p:sp>
      <p:sp>
        <p:nvSpPr>
          <p:cNvPr id="139" name="Shape 137"/>
          <p:cNvSpPr/>
          <p:nvPr/>
        </p:nvSpPr>
        <p:spPr>
          <a:xfrm>
            <a:off x="533400" y="17149763"/>
            <a:ext cx="2857500" cy="571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40411" dir="2700000">
              <a:srgbClr val="2B2A28">
                <a:alpha val="12000"/>
              </a:srgbClr>
            </a:outerShdw>
          </a:effectLst>
        </p:spPr>
      </p:sp>
      <p:sp>
        <p:nvSpPr>
          <p:cNvPr id="140" name="Text 138"/>
          <p:cNvSpPr/>
          <p:nvPr/>
        </p:nvSpPr>
        <p:spPr>
          <a:xfrm>
            <a:off x="685800" y="17330738"/>
            <a:ext cx="105876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10 · R5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2530078" y="17302163"/>
            <a:ext cx="708422" cy="242888"/>
          </a:xfrm>
          <a:prstGeom prst="roundRect">
            <a:avLst>
              <a:gd name="adj" fmla="val 31372"/>
            </a:avLst>
          </a:prstGeom>
          <a:ln w="19050">
            <a:solidFill>
              <a:srgbClr val="C4683A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2625328" y="17359313"/>
            <a:ext cx="59412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46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 Game</a:t>
            </a:r>
            <a:endParaRPr lang="en-US" sz="825" dirty="0"/>
          </a:p>
        </p:txBody>
      </p:sp>
      <p:sp>
        <p:nvSpPr>
          <p:cNvPr id="143" name="Text 141"/>
          <p:cNvSpPr/>
          <p:nvPr/>
        </p:nvSpPr>
        <p:spPr>
          <a:xfrm>
            <a:off x="914400" y="17640300"/>
            <a:ext cx="6858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Alex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952500" y="17806988"/>
            <a:ext cx="609600" cy="138113"/>
          </a:xfrm>
          <a:prstGeom prst="roundRect">
            <a:avLst>
              <a:gd name="adj" fmla="val 34483"/>
            </a:avLst>
          </a:prstGeom>
          <a:solidFill>
            <a:srgbClr val="E2E9F7"/>
          </a:solidFill>
          <a:ln/>
        </p:spPr>
      </p:sp>
      <p:sp>
        <p:nvSpPr>
          <p:cNvPr id="145" name="Text 143"/>
          <p:cNvSpPr/>
          <p:nvPr/>
        </p:nvSpPr>
        <p:spPr>
          <a:xfrm>
            <a:off x="914400" y="17816513"/>
            <a:ext cx="685800" cy="157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66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4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1581150" y="17640300"/>
            <a:ext cx="6858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1619250" y="17806988"/>
            <a:ext cx="609600" cy="138113"/>
          </a:xfrm>
          <a:prstGeom prst="roundRect">
            <a:avLst>
              <a:gd name="adj" fmla="val 34483"/>
            </a:avLst>
          </a:prstGeom>
          <a:solidFill>
            <a:srgbClr val="E2E9F7"/>
          </a:solidFill>
          <a:ln/>
        </p:spPr>
      </p:sp>
      <p:sp>
        <p:nvSpPr>
          <p:cNvPr id="148" name="Text 146"/>
          <p:cNvSpPr/>
          <p:nvPr/>
        </p:nvSpPr>
        <p:spPr>
          <a:xfrm>
            <a:off x="1581150" y="17816513"/>
            <a:ext cx="685800" cy="157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66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3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2247900" y="17640300"/>
            <a:ext cx="6858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Jordan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2286000" y="17806988"/>
            <a:ext cx="609600" cy="138113"/>
          </a:xfrm>
          <a:prstGeom prst="roundRect">
            <a:avLst>
              <a:gd name="adj" fmla="val 34483"/>
            </a:avLst>
          </a:prstGeom>
          <a:solidFill>
            <a:srgbClr val="E2E9F7"/>
          </a:solidFill>
          <a:ln/>
        </p:spPr>
      </p:sp>
      <p:sp>
        <p:nvSpPr>
          <p:cNvPr id="151" name="Text 149"/>
          <p:cNvSpPr/>
          <p:nvPr/>
        </p:nvSpPr>
        <p:spPr>
          <a:xfrm>
            <a:off x="2247900" y="17816513"/>
            <a:ext cx="685800" cy="157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66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6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2914650" y="17640300"/>
            <a:ext cx="5334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Cas…</a:t>
            </a:r>
            <a:endParaRPr lang="en-US" sz="900" dirty="0"/>
          </a:p>
        </p:txBody>
      </p:sp>
      <p:sp>
        <p:nvSpPr>
          <p:cNvPr id="153" name="Text 151"/>
          <p:cNvSpPr/>
          <p:nvPr/>
        </p:nvSpPr>
        <p:spPr>
          <a:xfrm>
            <a:off x="666750" y="18078450"/>
            <a:ext cx="3619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R1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952500" y="18021300"/>
            <a:ext cx="609600" cy="252413"/>
          </a:xfrm>
          <a:prstGeom prst="roundRect">
            <a:avLst>
              <a:gd name="adj" fmla="val 22641"/>
            </a:avLst>
          </a:prstGeom>
          <a:solidFill>
            <a:srgbClr val="F4F3EF"/>
          </a:solidFill>
          <a:ln/>
        </p:spPr>
      </p:sp>
      <p:sp>
        <p:nvSpPr>
          <p:cNvPr id="155" name="Text 153"/>
          <p:cNvSpPr/>
          <p:nvPr/>
        </p:nvSpPr>
        <p:spPr>
          <a:xfrm>
            <a:off x="914400" y="18078450"/>
            <a:ext cx="68580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1619250" y="18021300"/>
            <a:ext cx="609600" cy="252413"/>
          </a:xfrm>
          <a:prstGeom prst="roundRect">
            <a:avLst>
              <a:gd name="adj" fmla="val 22641"/>
            </a:avLst>
          </a:prstGeom>
          <a:solidFill>
            <a:srgbClr val="F4F3EF"/>
          </a:solidFill>
          <a:ln/>
        </p:spPr>
      </p:sp>
      <p:sp>
        <p:nvSpPr>
          <p:cNvPr id="157" name="Text 155"/>
          <p:cNvSpPr/>
          <p:nvPr/>
        </p:nvSpPr>
        <p:spPr>
          <a:xfrm>
            <a:off x="1581150" y="18078450"/>
            <a:ext cx="68580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2286000" y="18021300"/>
            <a:ext cx="609600" cy="252413"/>
          </a:xfrm>
          <a:prstGeom prst="roundRect">
            <a:avLst>
              <a:gd name="adj" fmla="val 22641"/>
            </a:avLst>
          </a:prstGeom>
          <a:solidFill>
            <a:srgbClr val="F4F3EF"/>
          </a:solidFill>
          <a:ln/>
        </p:spPr>
      </p:sp>
      <p:sp>
        <p:nvSpPr>
          <p:cNvPr id="159" name="Text 157"/>
          <p:cNvSpPr/>
          <p:nvPr/>
        </p:nvSpPr>
        <p:spPr>
          <a:xfrm>
            <a:off x="2247900" y="18078450"/>
            <a:ext cx="68580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2952750" y="18021300"/>
            <a:ext cx="457200" cy="252413"/>
          </a:xfrm>
          <a:prstGeom prst="roundRect">
            <a:avLst>
              <a:gd name="adj" fmla="val 22641"/>
            </a:avLst>
          </a:prstGeom>
          <a:solidFill>
            <a:srgbClr val="F4F3EF">
              <a:alpha val="40000"/>
            </a:srgbClr>
          </a:solidFill>
          <a:ln/>
        </p:spPr>
      </p:sp>
      <p:sp>
        <p:nvSpPr>
          <p:cNvPr id="161" name="Text 159"/>
          <p:cNvSpPr/>
          <p:nvPr/>
        </p:nvSpPr>
        <p:spPr>
          <a:xfrm>
            <a:off x="2914650" y="18078450"/>
            <a:ext cx="53340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>
                    <a:alpha val="4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900" dirty="0"/>
          </a:p>
        </p:txBody>
      </p:sp>
      <p:sp>
        <p:nvSpPr>
          <p:cNvPr id="162" name="Text 160"/>
          <p:cNvSpPr/>
          <p:nvPr/>
        </p:nvSpPr>
        <p:spPr>
          <a:xfrm>
            <a:off x="666750" y="18378488"/>
            <a:ext cx="3619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R2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952500" y="18321338"/>
            <a:ext cx="609600" cy="252413"/>
          </a:xfrm>
          <a:prstGeom prst="roundRect">
            <a:avLst>
              <a:gd name="adj" fmla="val 22641"/>
            </a:avLst>
          </a:prstGeom>
          <a:solidFill>
            <a:srgbClr val="F4F3EF"/>
          </a:solidFill>
          <a:ln/>
        </p:spPr>
      </p:sp>
      <p:sp>
        <p:nvSpPr>
          <p:cNvPr id="164" name="Text 162"/>
          <p:cNvSpPr/>
          <p:nvPr/>
        </p:nvSpPr>
        <p:spPr>
          <a:xfrm>
            <a:off x="914400" y="18378488"/>
            <a:ext cx="68580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1619250" y="18321338"/>
            <a:ext cx="609600" cy="252413"/>
          </a:xfrm>
          <a:prstGeom prst="roundRect">
            <a:avLst>
              <a:gd name="adj" fmla="val 22641"/>
            </a:avLst>
          </a:prstGeom>
          <a:solidFill>
            <a:srgbClr val="F4F3EF"/>
          </a:solidFill>
          <a:ln/>
        </p:spPr>
      </p:sp>
      <p:sp>
        <p:nvSpPr>
          <p:cNvPr id="166" name="Text 164"/>
          <p:cNvSpPr/>
          <p:nvPr/>
        </p:nvSpPr>
        <p:spPr>
          <a:xfrm>
            <a:off x="1581150" y="18378488"/>
            <a:ext cx="68580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2286000" y="18321338"/>
            <a:ext cx="609600" cy="252413"/>
          </a:xfrm>
          <a:prstGeom prst="roundRect">
            <a:avLst>
              <a:gd name="adj" fmla="val 22641"/>
            </a:avLst>
          </a:prstGeom>
          <a:solidFill>
            <a:srgbClr val="F4F3EF"/>
          </a:solidFill>
          <a:ln/>
        </p:spPr>
      </p:sp>
      <p:sp>
        <p:nvSpPr>
          <p:cNvPr id="168" name="Text 166"/>
          <p:cNvSpPr/>
          <p:nvPr/>
        </p:nvSpPr>
        <p:spPr>
          <a:xfrm>
            <a:off x="2247900" y="18378488"/>
            <a:ext cx="68580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2952750" y="18321338"/>
            <a:ext cx="457200" cy="252413"/>
          </a:xfrm>
          <a:prstGeom prst="roundRect">
            <a:avLst>
              <a:gd name="adj" fmla="val 22641"/>
            </a:avLst>
          </a:prstGeom>
          <a:solidFill>
            <a:srgbClr val="F4F3EF">
              <a:alpha val="40000"/>
            </a:srgbClr>
          </a:solidFill>
          <a:ln/>
        </p:spPr>
      </p:sp>
      <p:sp>
        <p:nvSpPr>
          <p:cNvPr id="170" name="Text 168"/>
          <p:cNvSpPr/>
          <p:nvPr/>
        </p:nvSpPr>
        <p:spPr>
          <a:xfrm>
            <a:off x="2914650" y="18378488"/>
            <a:ext cx="53340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>
                    <a:alpha val="4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endParaRPr lang="en-US" sz="900" dirty="0"/>
          </a:p>
        </p:txBody>
      </p:sp>
      <p:sp>
        <p:nvSpPr>
          <p:cNvPr id="171" name="Text 169"/>
          <p:cNvSpPr/>
          <p:nvPr/>
        </p:nvSpPr>
        <p:spPr>
          <a:xfrm>
            <a:off x="666750" y="18678525"/>
            <a:ext cx="3619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R3</a:t>
            </a:r>
            <a:endParaRPr lang="en-US" sz="900" dirty="0"/>
          </a:p>
        </p:txBody>
      </p:sp>
      <p:sp>
        <p:nvSpPr>
          <p:cNvPr id="172" name="Shape 170"/>
          <p:cNvSpPr/>
          <p:nvPr/>
        </p:nvSpPr>
        <p:spPr>
          <a:xfrm>
            <a:off x="952500" y="18621375"/>
            <a:ext cx="609600" cy="252413"/>
          </a:xfrm>
          <a:prstGeom prst="roundRect">
            <a:avLst>
              <a:gd name="adj" fmla="val 22641"/>
            </a:avLst>
          </a:prstGeom>
          <a:solidFill>
            <a:srgbClr val="F4F3EF"/>
          </a:solidFill>
          <a:ln/>
        </p:spPr>
      </p:sp>
      <p:sp>
        <p:nvSpPr>
          <p:cNvPr id="173" name="Text 171"/>
          <p:cNvSpPr/>
          <p:nvPr/>
        </p:nvSpPr>
        <p:spPr>
          <a:xfrm>
            <a:off x="914400" y="18678525"/>
            <a:ext cx="68580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900" dirty="0"/>
          </a:p>
        </p:txBody>
      </p:sp>
      <p:sp>
        <p:nvSpPr>
          <p:cNvPr id="174" name="Shape 172"/>
          <p:cNvSpPr/>
          <p:nvPr/>
        </p:nvSpPr>
        <p:spPr>
          <a:xfrm>
            <a:off x="1619250" y="18621375"/>
            <a:ext cx="609600" cy="252413"/>
          </a:xfrm>
          <a:prstGeom prst="roundRect">
            <a:avLst>
              <a:gd name="adj" fmla="val 22641"/>
            </a:avLst>
          </a:prstGeom>
          <a:solidFill>
            <a:srgbClr val="F4F3EF"/>
          </a:solidFill>
          <a:ln/>
        </p:spPr>
      </p:sp>
      <p:sp>
        <p:nvSpPr>
          <p:cNvPr id="175" name="Text 173"/>
          <p:cNvSpPr/>
          <p:nvPr/>
        </p:nvSpPr>
        <p:spPr>
          <a:xfrm>
            <a:off x="1581150" y="18678525"/>
            <a:ext cx="68580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2286000" y="18621375"/>
            <a:ext cx="609600" cy="252413"/>
          </a:xfrm>
          <a:prstGeom prst="roundRect">
            <a:avLst>
              <a:gd name="adj" fmla="val 22641"/>
            </a:avLst>
          </a:prstGeom>
          <a:solidFill>
            <a:srgbClr val="F4F3EF"/>
          </a:solidFill>
          <a:ln/>
        </p:spPr>
      </p:sp>
      <p:sp>
        <p:nvSpPr>
          <p:cNvPr id="177" name="Text 175"/>
          <p:cNvSpPr/>
          <p:nvPr/>
        </p:nvSpPr>
        <p:spPr>
          <a:xfrm>
            <a:off x="2247900" y="18678525"/>
            <a:ext cx="68580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900" dirty="0"/>
          </a:p>
        </p:txBody>
      </p:sp>
      <p:sp>
        <p:nvSpPr>
          <p:cNvPr id="178" name="Shape 176"/>
          <p:cNvSpPr/>
          <p:nvPr/>
        </p:nvSpPr>
        <p:spPr>
          <a:xfrm>
            <a:off x="2952750" y="18621375"/>
            <a:ext cx="457200" cy="252413"/>
          </a:xfrm>
          <a:prstGeom prst="roundRect">
            <a:avLst>
              <a:gd name="adj" fmla="val 22641"/>
            </a:avLst>
          </a:prstGeom>
          <a:solidFill>
            <a:srgbClr val="F4F3EF">
              <a:alpha val="40000"/>
            </a:srgbClr>
          </a:solidFill>
          <a:ln/>
        </p:spPr>
      </p:sp>
      <p:sp>
        <p:nvSpPr>
          <p:cNvPr id="179" name="Text 177"/>
          <p:cNvSpPr/>
          <p:nvPr/>
        </p:nvSpPr>
        <p:spPr>
          <a:xfrm>
            <a:off x="2914650" y="18678525"/>
            <a:ext cx="53340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>
                    <a:alpha val="4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</a:t>
            </a:r>
            <a:endParaRPr lang="en-US" sz="900" dirty="0"/>
          </a:p>
        </p:txBody>
      </p:sp>
      <p:sp>
        <p:nvSpPr>
          <p:cNvPr id="180" name="Text 178"/>
          <p:cNvSpPr/>
          <p:nvPr/>
        </p:nvSpPr>
        <p:spPr>
          <a:xfrm>
            <a:off x="666750" y="18978563"/>
            <a:ext cx="3619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R4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952500" y="18921413"/>
            <a:ext cx="609600" cy="252413"/>
          </a:xfrm>
          <a:prstGeom prst="roundRect">
            <a:avLst>
              <a:gd name="adj" fmla="val 22641"/>
            </a:avLst>
          </a:prstGeom>
          <a:solidFill>
            <a:srgbClr val="F4F3EF"/>
          </a:solidFill>
          <a:ln/>
        </p:spPr>
      </p:sp>
      <p:sp>
        <p:nvSpPr>
          <p:cNvPr id="182" name="Text 180"/>
          <p:cNvSpPr/>
          <p:nvPr/>
        </p:nvSpPr>
        <p:spPr>
          <a:xfrm>
            <a:off x="914400" y="18978563"/>
            <a:ext cx="68580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1619250" y="18921413"/>
            <a:ext cx="609600" cy="252413"/>
          </a:xfrm>
          <a:prstGeom prst="roundRect">
            <a:avLst>
              <a:gd name="adj" fmla="val 22641"/>
            </a:avLst>
          </a:prstGeom>
          <a:solidFill>
            <a:srgbClr val="F4F3EF"/>
          </a:solidFill>
          <a:ln/>
        </p:spPr>
      </p:sp>
      <p:sp>
        <p:nvSpPr>
          <p:cNvPr id="184" name="Text 182"/>
          <p:cNvSpPr/>
          <p:nvPr/>
        </p:nvSpPr>
        <p:spPr>
          <a:xfrm>
            <a:off x="1581150" y="18978563"/>
            <a:ext cx="68580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2286000" y="18921413"/>
            <a:ext cx="609600" cy="252413"/>
          </a:xfrm>
          <a:prstGeom prst="roundRect">
            <a:avLst>
              <a:gd name="adj" fmla="val 22641"/>
            </a:avLst>
          </a:prstGeom>
          <a:solidFill>
            <a:srgbClr val="F4F3EF"/>
          </a:solidFill>
          <a:ln/>
        </p:spPr>
      </p:sp>
      <p:sp>
        <p:nvSpPr>
          <p:cNvPr id="186" name="Text 184"/>
          <p:cNvSpPr/>
          <p:nvPr/>
        </p:nvSpPr>
        <p:spPr>
          <a:xfrm>
            <a:off x="2247900" y="18978563"/>
            <a:ext cx="68580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2952750" y="18921413"/>
            <a:ext cx="457200" cy="252413"/>
          </a:xfrm>
          <a:prstGeom prst="roundRect">
            <a:avLst>
              <a:gd name="adj" fmla="val 22641"/>
            </a:avLst>
          </a:prstGeom>
          <a:solidFill>
            <a:srgbClr val="F4F3EF">
              <a:alpha val="40000"/>
            </a:srgbClr>
          </a:solidFill>
          <a:ln/>
        </p:spPr>
      </p:sp>
      <p:sp>
        <p:nvSpPr>
          <p:cNvPr id="188" name="Text 186"/>
          <p:cNvSpPr/>
          <p:nvPr/>
        </p:nvSpPr>
        <p:spPr>
          <a:xfrm>
            <a:off x="2914650" y="18978563"/>
            <a:ext cx="53340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>
                    <a:alpha val="4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900" dirty="0"/>
          </a:p>
        </p:txBody>
      </p:sp>
      <p:sp>
        <p:nvSpPr>
          <p:cNvPr id="189" name="Text 187"/>
          <p:cNvSpPr/>
          <p:nvPr/>
        </p:nvSpPr>
        <p:spPr>
          <a:xfrm>
            <a:off x="666750" y="19297650"/>
            <a:ext cx="3619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66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R5</a:t>
            </a:r>
            <a:endParaRPr lang="en-US" sz="900" dirty="0"/>
          </a:p>
        </p:txBody>
      </p:sp>
      <p:sp>
        <p:nvSpPr>
          <p:cNvPr id="190" name="Shape 188"/>
          <p:cNvSpPr/>
          <p:nvPr/>
        </p:nvSpPr>
        <p:spPr>
          <a:xfrm>
            <a:off x="952500" y="19240500"/>
            <a:ext cx="609600" cy="290513"/>
          </a:xfrm>
          <a:prstGeom prst="roundRect">
            <a:avLst>
              <a:gd name="adj" fmla="val 19672"/>
            </a:avLst>
          </a:prstGeom>
          <a:ln w="19050">
            <a:solidFill>
              <a:srgbClr val="3866C4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933450" y="19316700"/>
            <a:ext cx="6477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</a:t>
            </a:r>
            <a:endParaRPr lang="en-US" sz="900" dirty="0"/>
          </a:p>
        </p:txBody>
      </p:sp>
      <p:sp>
        <p:nvSpPr>
          <p:cNvPr id="192" name="Text 190"/>
          <p:cNvSpPr/>
          <p:nvPr/>
        </p:nvSpPr>
        <p:spPr>
          <a:xfrm>
            <a:off x="914400" y="19569113"/>
            <a:ext cx="6858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8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☑ made</a:t>
            </a: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>
            <a:off x="1619250" y="19240500"/>
            <a:ext cx="609600" cy="290513"/>
          </a:xfrm>
          <a:prstGeom prst="roundRect">
            <a:avLst>
              <a:gd name="adj" fmla="val 19672"/>
            </a:avLst>
          </a:prstGeom>
          <a:ln w="19050">
            <a:solidFill>
              <a:srgbClr val="3866C4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1600200" y="19316700"/>
            <a:ext cx="6477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</a:t>
            </a:r>
            <a:endParaRPr lang="en-US" sz="900" dirty="0"/>
          </a:p>
        </p:txBody>
      </p:sp>
      <p:sp>
        <p:nvSpPr>
          <p:cNvPr id="195" name="Text 193"/>
          <p:cNvSpPr/>
          <p:nvPr/>
        </p:nvSpPr>
        <p:spPr>
          <a:xfrm>
            <a:off x="1581150" y="19569113"/>
            <a:ext cx="6858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☐ made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2286000" y="19240500"/>
            <a:ext cx="609600" cy="290513"/>
          </a:xfrm>
          <a:prstGeom prst="roundRect">
            <a:avLst>
              <a:gd name="adj" fmla="val 19672"/>
            </a:avLst>
          </a:prstGeom>
          <a:ln w="19050">
            <a:solidFill>
              <a:srgbClr val="3866C4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2266950" y="19316700"/>
            <a:ext cx="6477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</a:t>
            </a:r>
            <a:endParaRPr lang="en-US" sz="900" dirty="0"/>
          </a:p>
        </p:txBody>
      </p:sp>
      <p:sp>
        <p:nvSpPr>
          <p:cNvPr id="198" name="Text 196"/>
          <p:cNvSpPr/>
          <p:nvPr/>
        </p:nvSpPr>
        <p:spPr>
          <a:xfrm>
            <a:off x="2247900" y="19569113"/>
            <a:ext cx="6858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☐ made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>
            <a:off x="2952750" y="19240500"/>
            <a:ext cx="457200" cy="290513"/>
          </a:xfrm>
          <a:prstGeom prst="roundRect">
            <a:avLst>
              <a:gd name="adj" fmla="val 19672"/>
            </a:avLst>
          </a:prstGeom>
          <a:ln w="19050">
            <a:solidFill>
              <a:srgbClr val="3866C4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2933700" y="19316700"/>
            <a:ext cx="4953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952500" y="19821525"/>
            <a:ext cx="2124075" cy="47625"/>
          </a:xfrm>
          <a:prstGeom prst="roundRect">
            <a:avLst>
              <a:gd name="adj" fmla="val 50000"/>
            </a:avLst>
          </a:prstGeom>
          <a:solidFill>
            <a:srgbClr val="ECEBE6"/>
          </a:solidFill>
          <a:ln/>
        </p:spPr>
      </p:sp>
      <p:sp>
        <p:nvSpPr>
          <p:cNvPr id="202" name="Shape 200"/>
          <p:cNvSpPr/>
          <p:nvPr/>
        </p:nvSpPr>
        <p:spPr>
          <a:xfrm>
            <a:off x="952500" y="19821525"/>
            <a:ext cx="1359396" cy="47625"/>
          </a:xfrm>
          <a:prstGeom prst="roundRect">
            <a:avLst>
              <a:gd name="adj" fmla="val 50000"/>
            </a:avLst>
          </a:prstGeom>
          <a:solidFill>
            <a:srgbClr val="C9C6BF"/>
          </a:solidFill>
          <a:ln/>
        </p:spPr>
      </p:sp>
      <p:sp>
        <p:nvSpPr>
          <p:cNvPr id="203" name="Text 201"/>
          <p:cNvSpPr/>
          <p:nvPr/>
        </p:nvSpPr>
        <p:spPr>
          <a:xfrm>
            <a:off x="3133725" y="19769138"/>
            <a:ext cx="2000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975" dirty="0"/>
          </a:p>
        </p:txBody>
      </p:sp>
      <p:sp>
        <p:nvSpPr>
          <p:cNvPr id="204" name="Shape 202"/>
          <p:cNvSpPr/>
          <p:nvPr/>
        </p:nvSpPr>
        <p:spPr>
          <a:xfrm>
            <a:off x="666750" y="22431375"/>
            <a:ext cx="2590800" cy="19050"/>
          </a:xfrm>
          <a:prstGeom prst="rect">
            <a:avLst/>
          </a:prstGeom>
          <a:solidFill>
            <a:srgbClr val="2B2A28"/>
          </a:solidFill>
          <a:ln/>
        </p:spPr>
      </p:sp>
      <p:sp>
        <p:nvSpPr>
          <p:cNvPr id="205" name="Text 203"/>
          <p:cNvSpPr/>
          <p:nvPr/>
        </p:nvSpPr>
        <p:spPr>
          <a:xfrm>
            <a:off x="666750" y="22574250"/>
            <a:ext cx="361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Σ</a:t>
            </a:r>
            <a:endParaRPr lang="en-US" sz="825" dirty="0"/>
          </a:p>
        </p:txBody>
      </p:sp>
      <p:sp>
        <p:nvSpPr>
          <p:cNvPr id="206" name="Text 204"/>
          <p:cNvSpPr/>
          <p:nvPr/>
        </p:nvSpPr>
        <p:spPr>
          <a:xfrm>
            <a:off x="914400" y="22545675"/>
            <a:ext cx="6858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8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75 ♛</a:t>
            </a:r>
            <a:endParaRPr lang="en-US" sz="1200" dirty="0"/>
          </a:p>
        </p:txBody>
      </p:sp>
      <p:sp>
        <p:nvSpPr>
          <p:cNvPr id="207" name="Text 205"/>
          <p:cNvSpPr/>
          <p:nvPr/>
        </p:nvSpPr>
        <p:spPr>
          <a:xfrm>
            <a:off x="1581150" y="22545675"/>
            <a:ext cx="6858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130</a:t>
            </a:r>
            <a:endParaRPr lang="en-US" sz="1200" dirty="0"/>
          </a:p>
        </p:txBody>
      </p:sp>
      <p:sp>
        <p:nvSpPr>
          <p:cNvPr id="208" name="Text 206"/>
          <p:cNvSpPr/>
          <p:nvPr/>
        </p:nvSpPr>
        <p:spPr>
          <a:xfrm>
            <a:off x="2247900" y="22545675"/>
            <a:ext cx="6858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85</a:t>
            </a:r>
            <a:endParaRPr lang="en-US" sz="1200" dirty="0"/>
          </a:p>
        </p:txBody>
      </p:sp>
      <p:sp>
        <p:nvSpPr>
          <p:cNvPr id="209" name="Text 207"/>
          <p:cNvSpPr/>
          <p:nvPr/>
        </p:nvSpPr>
        <p:spPr>
          <a:xfrm>
            <a:off x="2914650" y="22545675"/>
            <a:ext cx="5334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>
                    <a:alpha val="4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</a:t>
            </a:r>
            <a:endParaRPr lang="en-US" sz="1200" dirty="0"/>
          </a:p>
        </p:txBody>
      </p:sp>
      <p:sp>
        <p:nvSpPr>
          <p:cNvPr id="210" name="Text 208"/>
          <p:cNvSpPr/>
          <p:nvPr/>
        </p:nvSpPr>
        <p:spPr>
          <a:xfrm>
            <a:off x="3810000" y="16849725"/>
            <a:ext cx="348491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F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round-card stack (per-player rows)</a:t>
            </a:r>
            <a:endParaRPr lang="en-US" sz="1425" dirty="0"/>
          </a:p>
        </p:txBody>
      </p:sp>
      <p:sp>
        <p:nvSpPr>
          <p:cNvPr id="211" name="Shape 209"/>
          <p:cNvSpPr/>
          <p:nvPr/>
        </p:nvSpPr>
        <p:spPr>
          <a:xfrm>
            <a:off x="3771900" y="17149763"/>
            <a:ext cx="2857500" cy="571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40411" dir="2700000">
              <a:srgbClr val="2B2A28">
                <a:alpha val="12000"/>
              </a:srgbClr>
            </a:outerShdw>
          </a:effectLst>
        </p:spPr>
      </p:sp>
      <p:sp>
        <p:nvSpPr>
          <p:cNvPr id="212" name="Text 210"/>
          <p:cNvSpPr/>
          <p:nvPr/>
        </p:nvSpPr>
        <p:spPr>
          <a:xfrm>
            <a:off x="3924300" y="17330738"/>
            <a:ext cx="73692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10</a:t>
            </a:r>
            <a:endParaRPr lang="en-US" sz="1200" dirty="0"/>
          </a:p>
        </p:txBody>
      </p:sp>
      <p:sp>
        <p:nvSpPr>
          <p:cNvPr id="213" name="Shape 211"/>
          <p:cNvSpPr/>
          <p:nvPr/>
        </p:nvSpPr>
        <p:spPr>
          <a:xfrm>
            <a:off x="5768578" y="17302163"/>
            <a:ext cx="708422" cy="242888"/>
          </a:xfrm>
          <a:prstGeom prst="roundRect">
            <a:avLst>
              <a:gd name="adj" fmla="val 31372"/>
            </a:avLst>
          </a:prstGeom>
          <a:ln w="19050">
            <a:solidFill>
              <a:srgbClr val="C4683A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5863828" y="17359313"/>
            <a:ext cx="59412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46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 Game</a:t>
            </a:r>
            <a:endParaRPr lang="en-US" sz="825" dirty="0"/>
          </a:p>
        </p:txBody>
      </p:sp>
      <p:sp>
        <p:nvSpPr>
          <p:cNvPr id="215" name="Shape 213"/>
          <p:cNvSpPr/>
          <p:nvPr/>
        </p:nvSpPr>
        <p:spPr>
          <a:xfrm>
            <a:off x="3905250" y="17640300"/>
            <a:ext cx="633413" cy="466725"/>
          </a:xfrm>
          <a:prstGeom prst="roundRect">
            <a:avLst>
              <a:gd name="adj" fmla="val 20408"/>
            </a:avLst>
          </a:prstGeom>
          <a:solidFill>
            <a:srgbClr val="E6F0E9"/>
          </a:solidFill>
          <a:ln w="19050">
            <a:solidFill>
              <a:srgbClr val="4A8A5C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3924300" y="17726025"/>
            <a:ext cx="59531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8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♛ Alex</a:t>
            </a:r>
            <a:endParaRPr lang="en-US" sz="750" dirty="0"/>
          </a:p>
        </p:txBody>
      </p:sp>
      <p:sp>
        <p:nvSpPr>
          <p:cNvPr id="217" name="Text 215"/>
          <p:cNvSpPr/>
          <p:nvPr/>
        </p:nvSpPr>
        <p:spPr>
          <a:xfrm>
            <a:off x="3924300" y="17845088"/>
            <a:ext cx="59531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75</a:t>
            </a:r>
            <a:endParaRPr lang="en-US" sz="1125" dirty="0"/>
          </a:p>
        </p:txBody>
      </p:sp>
      <p:sp>
        <p:nvSpPr>
          <p:cNvPr id="218" name="Shape 216"/>
          <p:cNvSpPr/>
          <p:nvPr/>
        </p:nvSpPr>
        <p:spPr>
          <a:xfrm>
            <a:off x="4595813" y="17640300"/>
            <a:ext cx="595313" cy="466725"/>
          </a:xfrm>
          <a:prstGeom prst="roundRect">
            <a:avLst>
              <a:gd name="adj" fmla="val 20408"/>
            </a:avLst>
          </a:prstGeom>
          <a:solidFill>
            <a:srgbClr val="F4F3EF"/>
          </a:solidFill>
          <a:ln/>
        </p:spPr>
      </p:sp>
      <p:sp>
        <p:nvSpPr>
          <p:cNvPr id="219" name="Text 217"/>
          <p:cNvSpPr/>
          <p:nvPr/>
        </p:nvSpPr>
        <p:spPr>
          <a:xfrm>
            <a:off x="4595812" y="17706975"/>
            <a:ext cx="59531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Jordan</a:t>
            </a:r>
            <a:endParaRPr lang="en-US" sz="750" dirty="0"/>
          </a:p>
        </p:txBody>
      </p:sp>
      <p:sp>
        <p:nvSpPr>
          <p:cNvPr id="220" name="Text 218"/>
          <p:cNvSpPr/>
          <p:nvPr/>
        </p:nvSpPr>
        <p:spPr>
          <a:xfrm>
            <a:off x="4595812" y="17826038"/>
            <a:ext cx="59531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85</a:t>
            </a:r>
            <a:endParaRPr lang="en-US" sz="1125" dirty="0"/>
          </a:p>
        </p:txBody>
      </p:sp>
      <p:sp>
        <p:nvSpPr>
          <p:cNvPr id="221" name="Shape 219"/>
          <p:cNvSpPr/>
          <p:nvPr/>
        </p:nvSpPr>
        <p:spPr>
          <a:xfrm>
            <a:off x="5248275" y="17640300"/>
            <a:ext cx="595313" cy="466725"/>
          </a:xfrm>
          <a:prstGeom prst="roundRect">
            <a:avLst>
              <a:gd name="adj" fmla="val 20408"/>
            </a:avLst>
          </a:prstGeom>
          <a:solidFill>
            <a:srgbClr val="F4F3EF"/>
          </a:solidFill>
          <a:ln/>
        </p:spPr>
      </p:sp>
      <p:sp>
        <p:nvSpPr>
          <p:cNvPr id="222" name="Text 220"/>
          <p:cNvSpPr/>
          <p:nvPr/>
        </p:nvSpPr>
        <p:spPr>
          <a:xfrm>
            <a:off x="5248275" y="17706975"/>
            <a:ext cx="59531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Casey</a:t>
            </a:r>
            <a:endParaRPr lang="en-US" sz="750" dirty="0"/>
          </a:p>
        </p:txBody>
      </p:sp>
      <p:sp>
        <p:nvSpPr>
          <p:cNvPr id="223" name="Text 221"/>
          <p:cNvSpPr/>
          <p:nvPr/>
        </p:nvSpPr>
        <p:spPr>
          <a:xfrm>
            <a:off x="5248275" y="17826038"/>
            <a:ext cx="59531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</a:t>
            </a:r>
            <a:endParaRPr lang="en-US" sz="1125" dirty="0"/>
          </a:p>
        </p:txBody>
      </p:sp>
      <p:sp>
        <p:nvSpPr>
          <p:cNvPr id="224" name="Shape 222"/>
          <p:cNvSpPr/>
          <p:nvPr/>
        </p:nvSpPr>
        <p:spPr>
          <a:xfrm>
            <a:off x="5900738" y="17640300"/>
            <a:ext cx="595313" cy="466725"/>
          </a:xfrm>
          <a:prstGeom prst="roundRect">
            <a:avLst>
              <a:gd name="adj" fmla="val 20408"/>
            </a:avLst>
          </a:prstGeom>
          <a:solidFill>
            <a:srgbClr val="F4F3EF"/>
          </a:solidFill>
          <a:ln/>
        </p:spPr>
      </p:sp>
      <p:sp>
        <p:nvSpPr>
          <p:cNvPr id="225" name="Text 223"/>
          <p:cNvSpPr/>
          <p:nvPr/>
        </p:nvSpPr>
        <p:spPr>
          <a:xfrm>
            <a:off x="5900738" y="17706975"/>
            <a:ext cx="59531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</a:t>
            </a:r>
            <a:endParaRPr lang="en-US" sz="750" dirty="0"/>
          </a:p>
        </p:txBody>
      </p:sp>
      <p:sp>
        <p:nvSpPr>
          <p:cNvPr id="226" name="Text 224"/>
          <p:cNvSpPr/>
          <p:nvPr/>
        </p:nvSpPr>
        <p:spPr>
          <a:xfrm>
            <a:off x="5900738" y="17826038"/>
            <a:ext cx="59531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130</a:t>
            </a:r>
            <a:endParaRPr lang="en-US" sz="1125" dirty="0"/>
          </a:p>
        </p:txBody>
      </p:sp>
      <p:sp>
        <p:nvSpPr>
          <p:cNvPr id="227" name="Shape 225"/>
          <p:cNvSpPr/>
          <p:nvPr/>
        </p:nvSpPr>
        <p:spPr>
          <a:xfrm>
            <a:off x="3905250" y="18221325"/>
            <a:ext cx="2590800" cy="2314575"/>
          </a:xfrm>
          <a:prstGeom prst="roundRect">
            <a:avLst>
              <a:gd name="adj" fmla="val 5761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4019550" y="18335625"/>
            <a:ext cx="25984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Round 5 · enter scores</a:t>
            </a:r>
            <a:endParaRPr lang="en-US" sz="1050" dirty="0"/>
          </a:p>
        </p:txBody>
      </p:sp>
      <p:sp>
        <p:nvSpPr>
          <p:cNvPr id="229" name="Shape 227"/>
          <p:cNvSpPr/>
          <p:nvPr/>
        </p:nvSpPr>
        <p:spPr>
          <a:xfrm>
            <a:off x="4019550" y="18649950"/>
            <a:ext cx="133350" cy="133350"/>
          </a:xfrm>
          <a:prstGeom prst="ellipse">
            <a:avLst/>
          </a:prstGeom>
          <a:solidFill>
            <a:srgbClr val="3866C4"/>
          </a:solidFill>
          <a:ln/>
        </p:spPr>
      </p:sp>
      <p:sp>
        <p:nvSpPr>
          <p:cNvPr id="230" name="Text 228"/>
          <p:cNvSpPr/>
          <p:nvPr/>
        </p:nvSpPr>
        <p:spPr>
          <a:xfrm>
            <a:off x="4229100" y="18640425"/>
            <a:ext cx="533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Alex</a:t>
            </a:r>
            <a:endParaRPr lang="en-US" sz="975" dirty="0"/>
          </a:p>
        </p:txBody>
      </p:sp>
      <p:sp>
        <p:nvSpPr>
          <p:cNvPr id="231" name="Shape 229"/>
          <p:cNvSpPr/>
          <p:nvPr/>
        </p:nvSpPr>
        <p:spPr>
          <a:xfrm>
            <a:off x="4762500" y="18638044"/>
            <a:ext cx="211782" cy="157163"/>
          </a:xfrm>
          <a:prstGeom prst="roundRect">
            <a:avLst>
              <a:gd name="adj" fmla="val 30303"/>
            </a:avLst>
          </a:prstGeom>
          <a:solidFill>
            <a:srgbClr val="E2E9F7"/>
          </a:solidFill>
          <a:ln/>
        </p:spPr>
      </p:sp>
      <p:sp>
        <p:nvSpPr>
          <p:cNvPr id="232" name="Text 230"/>
          <p:cNvSpPr/>
          <p:nvPr/>
        </p:nvSpPr>
        <p:spPr>
          <a:xfrm>
            <a:off x="4810125" y="18657094"/>
            <a:ext cx="19273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66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P4</a:t>
            </a:r>
            <a:endParaRPr lang="en-US" sz="750" dirty="0"/>
          </a:p>
        </p:txBody>
      </p:sp>
      <p:sp>
        <p:nvSpPr>
          <p:cNvPr id="233" name="Text 231"/>
          <p:cNvSpPr/>
          <p:nvPr/>
        </p:nvSpPr>
        <p:spPr>
          <a:xfrm>
            <a:off x="5574655" y="18654713"/>
            <a:ext cx="4356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A8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☑ made</a:t>
            </a:r>
            <a:endParaRPr lang="en-US" sz="750" dirty="0"/>
          </a:p>
        </p:txBody>
      </p:sp>
      <p:sp>
        <p:nvSpPr>
          <p:cNvPr id="234" name="Shape 232"/>
          <p:cNvSpPr/>
          <p:nvPr/>
        </p:nvSpPr>
        <p:spPr>
          <a:xfrm>
            <a:off x="5991225" y="18573750"/>
            <a:ext cx="390525" cy="285750"/>
          </a:xfrm>
          <a:prstGeom prst="roundRect">
            <a:avLst>
              <a:gd name="adj" fmla="val 26667"/>
            </a:avLst>
          </a:prstGeom>
          <a:ln w="19050">
            <a:solidFill>
              <a:srgbClr val="3866C4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6124575" y="18640425"/>
            <a:ext cx="2000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</a:t>
            </a:r>
            <a:endParaRPr lang="en-US" sz="975" dirty="0"/>
          </a:p>
        </p:txBody>
      </p:sp>
      <p:sp>
        <p:nvSpPr>
          <p:cNvPr id="236" name="Shape 234"/>
          <p:cNvSpPr/>
          <p:nvPr/>
        </p:nvSpPr>
        <p:spPr>
          <a:xfrm>
            <a:off x="4019550" y="19011900"/>
            <a:ext cx="133350" cy="133350"/>
          </a:xfrm>
          <a:prstGeom prst="ellipse">
            <a:avLst/>
          </a:prstGeom>
          <a:solidFill>
            <a:srgbClr val="4A8A5C"/>
          </a:solidFill>
          <a:ln/>
        </p:spPr>
      </p:sp>
      <p:sp>
        <p:nvSpPr>
          <p:cNvPr id="237" name="Text 235"/>
          <p:cNvSpPr/>
          <p:nvPr/>
        </p:nvSpPr>
        <p:spPr>
          <a:xfrm>
            <a:off x="4229100" y="19002375"/>
            <a:ext cx="533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</a:t>
            </a:r>
            <a:endParaRPr lang="en-US" sz="975" dirty="0"/>
          </a:p>
        </p:txBody>
      </p:sp>
      <p:sp>
        <p:nvSpPr>
          <p:cNvPr id="238" name="Shape 236"/>
          <p:cNvSpPr/>
          <p:nvPr/>
        </p:nvSpPr>
        <p:spPr>
          <a:xfrm>
            <a:off x="4762500" y="18999994"/>
            <a:ext cx="211782" cy="157163"/>
          </a:xfrm>
          <a:prstGeom prst="roundRect">
            <a:avLst>
              <a:gd name="adj" fmla="val 30303"/>
            </a:avLst>
          </a:prstGeom>
          <a:solidFill>
            <a:srgbClr val="E2E9F7"/>
          </a:solidFill>
          <a:ln/>
        </p:spPr>
      </p:sp>
      <p:sp>
        <p:nvSpPr>
          <p:cNvPr id="239" name="Text 237"/>
          <p:cNvSpPr/>
          <p:nvPr/>
        </p:nvSpPr>
        <p:spPr>
          <a:xfrm>
            <a:off x="4810125" y="19019044"/>
            <a:ext cx="19273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66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P3</a:t>
            </a:r>
            <a:endParaRPr lang="en-US" sz="750" dirty="0"/>
          </a:p>
        </p:txBody>
      </p:sp>
      <p:sp>
        <p:nvSpPr>
          <p:cNvPr id="240" name="Text 238"/>
          <p:cNvSpPr/>
          <p:nvPr/>
        </p:nvSpPr>
        <p:spPr>
          <a:xfrm>
            <a:off x="5574655" y="19016663"/>
            <a:ext cx="4356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☐ made</a:t>
            </a:r>
            <a:endParaRPr lang="en-US" sz="750" dirty="0"/>
          </a:p>
        </p:txBody>
      </p:sp>
      <p:sp>
        <p:nvSpPr>
          <p:cNvPr id="241" name="Shape 239"/>
          <p:cNvSpPr/>
          <p:nvPr/>
        </p:nvSpPr>
        <p:spPr>
          <a:xfrm>
            <a:off x="5991225" y="18935700"/>
            <a:ext cx="390525" cy="285750"/>
          </a:xfrm>
          <a:prstGeom prst="roundRect">
            <a:avLst>
              <a:gd name="adj" fmla="val 26667"/>
            </a:avLst>
          </a:prstGeom>
          <a:ln w="19050">
            <a:solidFill>
              <a:srgbClr val="3866C4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6124575" y="19002375"/>
            <a:ext cx="2000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</a:t>
            </a:r>
            <a:endParaRPr lang="en-US" sz="975" dirty="0"/>
          </a:p>
        </p:txBody>
      </p:sp>
      <p:sp>
        <p:nvSpPr>
          <p:cNvPr id="243" name="Shape 241"/>
          <p:cNvSpPr/>
          <p:nvPr/>
        </p:nvSpPr>
        <p:spPr>
          <a:xfrm>
            <a:off x="4019550" y="19373850"/>
            <a:ext cx="133350" cy="133350"/>
          </a:xfrm>
          <a:prstGeom prst="ellipse">
            <a:avLst/>
          </a:prstGeom>
          <a:solidFill>
            <a:srgbClr val="C4683A"/>
          </a:solidFill>
          <a:ln/>
        </p:spPr>
      </p:sp>
      <p:sp>
        <p:nvSpPr>
          <p:cNvPr id="244" name="Text 242"/>
          <p:cNvSpPr/>
          <p:nvPr/>
        </p:nvSpPr>
        <p:spPr>
          <a:xfrm>
            <a:off x="4229100" y="19364325"/>
            <a:ext cx="533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Jordan</a:t>
            </a:r>
            <a:endParaRPr lang="en-US" sz="975" dirty="0"/>
          </a:p>
        </p:txBody>
      </p:sp>
      <p:sp>
        <p:nvSpPr>
          <p:cNvPr id="245" name="Shape 243"/>
          <p:cNvSpPr/>
          <p:nvPr/>
        </p:nvSpPr>
        <p:spPr>
          <a:xfrm>
            <a:off x="4762500" y="19361944"/>
            <a:ext cx="211782" cy="157163"/>
          </a:xfrm>
          <a:prstGeom prst="roundRect">
            <a:avLst>
              <a:gd name="adj" fmla="val 30303"/>
            </a:avLst>
          </a:prstGeom>
          <a:solidFill>
            <a:srgbClr val="E2E9F7"/>
          </a:solidFill>
          <a:ln/>
        </p:spPr>
      </p:sp>
      <p:sp>
        <p:nvSpPr>
          <p:cNvPr id="246" name="Text 244"/>
          <p:cNvSpPr/>
          <p:nvPr/>
        </p:nvSpPr>
        <p:spPr>
          <a:xfrm>
            <a:off x="4810125" y="19380994"/>
            <a:ext cx="19273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66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P6</a:t>
            </a:r>
            <a:endParaRPr lang="en-US" sz="750" dirty="0"/>
          </a:p>
        </p:txBody>
      </p:sp>
      <p:sp>
        <p:nvSpPr>
          <p:cNvPr id="247" name="Text 245"/>
          <p:cNvSpPr/>
          <p:nvPr/>
        </p:nvSpPr>
        <p:spPr>
          <a:xfrm>
            <a:off x="5574655" y="19378613"/>
            <a:ext cx="4356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☐ made</a:t>
            </a:r>
            <a:endParaRPr lang="en-US" sz="750" dirty="0"/>
          </a:p>
        </p:txBody>
      </p:sp>
      <p:sp>
        <p:nvSpPr>
          <p:cNvPr id="248" name="Shape 246"/>
          <p:cNvSpPr/>
          <p:nvPr/>
        </p:nvSpPr>
        <p:spPr>
          <a:xfrm>
            <a:off x="5991225" y="19297650"/>
            <a:ext cx="390525" cy="285750"/>
          </a:xfrm>
          <a:prstGeom prst="roundRect">
            <a:avLst>
              <a:gd name="adj" fmla="val 26667"/>
            </a:avLst>
          </a:prstGeom>
          <a:ln w="19050">
            <a:solidFill>
              <a:srgbClr val="3866C4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6124575" y="19364325"/>
            <a:ext cx="2000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</a:t>
            </a:r>
            <a:endParaRPr lang="en-US" sz="975" dirty="0"/>
          </a:p>
        </p:txBody>
      </p:sp>
      <p:sp>
        <p:nvSpPr>
          <p:cNvPr id="250" name="Shape 248"/>
          <p:cNvSpPr/>
          <p:nvPr/>
        </p:nvSpPr>
        <p:spPr>
          <a:xfrm>
            <a:off x="4019550" y="19735800"/>
            <a:ext cx="133350" cy="133350"/>
          </a:xfrm>
          <a:prstGeom prst="ellipse">
            <a:avLst/>
          </a:prstGeom>
          <a:solidFill>
            <a:srgbClr val="7A5FB0"/>
          </a:solidFill>
          <a:ln/>
        </p:spPr>
      </p:sp>
      <p:sp>
        <p:nvSpPr>
          <p:cNvPr id="251" name="Text 249"/>
          <p:cNvSpPr/>
          <p:nvPr/>
        </p:nvSpPr>
        <p:spPr>
          <a:xfrm>
            <a:off x="4229100" y="19726275"/>
            <a:ext cx="533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Casey</a:t>
            </a:r>
            <a:endParaRPr lang="en-US" sz="975" dirty="0"/>
          </a:p>
        </p:txBody>
      </p:sp>
      <p:sp>
        <p:nvSpPr>
          <p:cNvPr id="252" name="Shape 250"/>
          <p:cNvSpPr/>
          <p:nvPr/>
        </p:nvSpPr>
        <p:spPr>
          <a:xfrm>
            <a:off x="4762500" y="19723894"/>
            <a:ext cx="211782" cy="157163"/>
          </a:xfrm>
          <a:prstGeom prst="roundRect">
            <a:avLst>
              <a:gd name="adj" fmla="val 30303"/>
            </a:avLst>
          </a:prstGeom>
          <a:solidFill>
            <a:srgbClr val="E2E9F7"/>
          </a:solidFill>
          <a:ln/>
        </p:spPr>
      </p:sp>
      <p:sp>
        <p:nvSpPr>
          <p:cNvPr id="253" name="Text 251"/>
          <p:cNvSpPr/>
          <p:nvPr/>
        </p:nvSpPr>
        <p:spPr>
          <a:xfrm>
            <a:off x="4810125" y="19742944"/>
            <a:ext cx="19273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66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P2</a:t>
            </a:r>
            <a:endParaRPr lang="en-US" sz="750" dirty="0"/>
          </a:p>
        </p:txBody>
      </p:sp>
      <p:sp>
        <p:nvSpPr>
          <p:cNvPr id="254" name="Text 252"/>
          <p:cNvSpPr/>
          <p:nvPr/>
        </p:nvSpPr>
        <p:spPr>
          <a:xfrm>
            <a:off x="5574655" y="19740563"/>
            <a:ext cx="4356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☐ made</a:t>
            </a:r>
            <a:endParaRPr lang="en-US" sz="750" dirty="0"/>
          </a:p>
        </p:txBody>
      </p:sp>
      <p:sp>
        <p:nvSpPr>
          <p:cNvPr id="255" name="Shape 253"/>
          <p:cNvSpPr/>
          <p:nvPr/>
        </p:nvSpPr>
        <p:spPr>
          <a:xfrm>
            <a:off x="5991225" y="19659600"/>
            <a:ext cx="390525" cy="285750"/>
          </a:xfrm>
          <a:prstGeom prst="roundRect">
            <a:avLst>
              <a:gd name="adj" fmla="val 26667"/>
            </a:avLst>
          </a:prstGeom>
          <a:ln w="19050">
            <a:solidFill>
              <a:srgbClr val="3866C4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6124575" y="19726275"/>
            <a:ext cx="2000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</a:t>
            </a:r>
            <a:endParaRPr lang="en-US" sz="975" dirty="0"/>
          </a:p>
        </p:txBody>
      </p:sp>
      <p:sp>
        <p:nvSpPr>
          <p:cNvPr id="257" name="Shape 255"/>
          <p:cNvSpPr/>
          <p:nvPr/>
        </p:nvSpPr>
        <p:spPr>
          <a:xfrm>
            <a:off x="4019550" y="20040600"/>
            <a:ext cx="2362200" cy="381000"/>
          </a:xfrm>
          <a:prstGeom prst="roundRect">
            <a:avLst>
              <a:gd name="adj" fmla="val 25000"/>
            </a:avLst>
          </a:prstGeom>
          <a:solidFill>
            <a:srgbClr val="3866C4"/>
          </a:solidFill>
          <a:ln w="19050">
            <a:solidFill>
              <a:srgbClr val="2B2A28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4095750" y="20154900"/>
            <a:ext cx="2209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Save round</a:t>
            </a:r>
            <a:endParaRPr lang="en-US" sz="975" dirty="0"/>
          </a:p>
        </p:txBody>
      </p:sp>
      <p:sp>
        <p:nvSpPr>
          <p:cNvPr id="259" name="Text 257"/>
          <p:cNvSpPr/>
          <p:nvPr/>
        </p:nvSpPr>
        <p:spPr>
          <a:xfrm>
            <a:off x="3924300" y="20650200"/>
            <a:ext cx="280797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PAST ROUNDS</a:t>
            </a:r>
            <a:endParaRPr lang="en-US" sz="825" dirty="0"/>
          </a:p>
        </p:txBody>
      </p:sp>
      <p:sp>
        <p:nvSpPr>
          <p:cNvPr id="260" name="Shape 258"/>
          <p:cNvSpPr/>
          <p:nvPr/>
        </p:nvSpPr>
        <p:spPr>
          <a:xfrm>
            <a:off x="3924300" y="20854988"/>
            <a:ext cx="414784" cy="252413"/>
          </a:xfrm>
          <a:prstGeom prst="roundRect">
            <a:avLst>
              <a:gd name="adj" fmla="val 30189"/>
            </a:avLst>
          </a:prstGeom>
          <a:ln w="14288">
            <a:solidFill>
              <a:srgbClr val="CFCCC4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4024313" y="20916900"/>
            <a:ext cx="29095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R4 ▸</a:t>
            </a:r>
            <a:endParaRPr lang="en-US" sz="825" dirty="0"/>
          </a:p>
        </p:txBody>
      </p:sp>
      <p:sp>
        <p:nvSpPr>
          <p:cNvPr id="262" name="Shape 260"/>
          <p:cNvSpPr/>
          <p:nvPr/>
        </p:nvSpPr>
        <p:spPr>
          <a:xfrm>
            <a:off x="4396234" y="20854988"/>
            <a:ext cx="414784" cy="252413"/>
          </a:xfrm>
          <a:prstGeom prst="roundRect">
            <a:avLst>
              <a:gd name="adj" fmla="val 30189"/>
            </a:avLst>
          </a:prstGeom>
          <a:ln w="14288">
            <a:solidFill>
              <a:srgbClr val="CFCCC4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4496246" y="20916900"/>
            <a:ext cx="29095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R3 ▸</a:t>
            </a:r>
            <a:endParaRPr lang="en-US" sz="825" dirty="0"/>
          </a:p>
        </p:txBody>
      </p:sp>
      <p:sp>
        <p:nvSpPr>
          <p:cNvPr id="264" name="Shape 262"/>
          <p:cNvSpPr/>
          <p:nvPr/>
        </p:nvSpPr>
        <p:spPr>
          <a:xfrm>
            <a:off x="4868168" y="20854988"/>
            <a:ext cx="414784" cy="252413"/>
          </a:xfrm>
          <a:prstGeom prst="roundRect">
            <a:avLst>
              <a:gd name="adj" fmla="val 30189"/>
            </a:avLst>
          </a:prstGeom>
          <a:ln w="14288">
            <a:solidFill>
              <a:srgbClr val="CFCCC4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4968180" y="20916900"/>
            <a:ext cx="29095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R2 ▸</a:t>
            </a:r>
            <a:endParaRPr lang="en-US" sz="825" dirty="0"/>
          </a:p>
        </p:txBody>
      </p:sp>
      <p:sp>
        <p:nvSpPr>
          <p:cNvPr id="266" name="Shape 264"/>
          <p:cNvSpPr/>
          <p:nvPr/>
        </p:nvSpPr>
        <p:spPr>
          <a:xfrm>
            <a:off x="5340102" y="20854988"/>
            <a:ext cx="414784" cy="252413"/>
          </a:xfrm>
          <a:prstGeom prst="roundRect">
            <a:avLst>
              <a:gd name="adj" fmla="val 30189"/>
            </a:avLst>
          </a:prstGeom>
          <a:ln w="14288">
            <a:solidFill>
              <a:srgbClr val="CFCCC4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5440114" y="20916900"/>
            <a:ext cx="29095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R1 ▸</a:t>
            </a:r>
            <a:endParaRPr lang="en-US" sz="825" dirty="0"/>
          </a:p>
        </p:txBody>
      </p:sp>
      <p:sp>
        <p:nvSpPr>
          <p:cNvPr id="268" name="Text 266"/>
          <p:cNvSpPr/>
          <p:nvPr/>
        </p:nvSpPr>
        <p:spPr>
          <a:xfrm>
            <a:off x="7397204" y="16849725"/>
            <a:ext cx="233468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F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— fast entry keypad</a:t>
            </a:r>
            <a:endParaRPr lang="en-US" sz="1425" dirty="0"/>
          </a:p>
        </p:txBody>
      </p:sp>
      <p:sp>
        <p:nvSpPr>
          <p:cNvPr id="269" name="Shape 267"/>
          <p:cNvSpPr/>
          <p:nvPr/>
        </p:nvSpPr>
        <p:spPr>
          <a:xfrm>
            <a:off x="7359104" y="17149763"/>
            <a:ext cx="2247900" cy="3405188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40411" dir="2700000">
              <a:srgbClr val="2B2A28">
                <a:alpha val="12000"/>
              </a:srgbClr>
            </a:outerShdw>
          </a:effectLst>
        </p:spPr>
      </p:sp>
      <p:sp>
        <p:nvSpPr>
          <p:cNvPr id="270" name="Text 268"/>
          <p:cNvSpPr/>
          <p:nvPr/>
        </p:nvSpPr>
        <p:spPr>
          <a:xfrm>
            <a:off x="7414349" y="17302163"/>
            <a:ext cx="213741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Jordan · Round 5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7511504" y="17478375"/>
            <a:ext cx="1943100" cy="595313"/>
          </a:xfrm>
          <a:prstGeom prst="roundRect">
            <a:avLst>
              <a:gd name="adj" fmla="val 16000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7606754" y="17611725"/>
            <a:ext cx="1752600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45</a:t>
            </a:r>
            <a:endParaRPr lang="en-US" sz="2100" dirty="0"/>
          </a:p>
        </p:txBody>
      </p:sp>
      <p:sp>
        <p:nvSpPr>
          <p:cNvPr id="273" name="Shape 271"/>
          <p:cNvSpPr/>
          <p:nvPr/>
        </p:nvSpPr>
        <p:spPr>
          <a:xfrm>
            <a:off x="7511504" y="18168938"/>
            <a:ext cx="442913" cy="271463"/>
          </a:xfrm>
          <a:prstGeom prst="roundRect">
            <a:avLst>
              <a:gd name="adj" fmla="val 24561"/>
            </a:avLst>
          </a:prstGeom>
          <a:solidFill>
            <a:srgbClr val="F6E98C"/>
          </a:solidFill>
          <a:ln w="14288">
            <a:solidFill>
              <a:srgbClr val="2B2A28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7487692" y="18240375"/>
            <a:ext cx="49053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+5</a:t>
            </a:r>
            <a:endParaRPr lang="en-US" sz="825" dirty="0"/>
          </a:p>
        </p:txBody>
      </p:sp>
      <p:sp>
        <p:nvSpPr>
          <p:cNvPr id="275" name="Shape 273"/>
          <p:cNvSpPr/>
          <p:nvPr/>
        </p:nvSpPr>
        <p:spPr>
          <a:xfrm>
            <a:off x="8011567" y="18168938"/>
            <a:ext cx="442913" cy="271463"/>
          </a:xfrm>
          <a:prstGeom prst="roundRect">
            <a:avLst>
              <a:gd name="adj" fmla="val 24561"/>
            </a:avLst>
          </a:prstGeom>
          <a:solidFill>
            <a:srgbClr val="F6E98C"/>
          </a:solidFill>
          <a:ln w="14288">
            <a:solidFill>
              <a:srgbClr val="2B2A28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7987754" y="18240375"/>
            <a:ext cx="49053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+10</a:t>
            </a:r>
            <a:endParaRPr lang="en-US" sz="825" dirty="0"/>
          </a:p>
        </p:txBody>
      </p:sp>
      <p:sp>
        <p:nvSpPr>
          <p:cNvPr id="277" name="Shape 275"/>
          <p:cNvSpPr/>
          <p:nvPr/>
        </p:nvSpPr>
        <p:spPr>
          <a:xfrm>
            <a:off x="8511629" y="18168938"/>
            <a:ext cx="442913" cy="271463"/>
          </a:xfrm>
          <a:prstGeom prst="roundRect">
            <a:avLst>
              <a:gd name="adj" fmla="val 24561"/>
            </a:avLst>
          </a:prstGeom>
          <a:solidFill>
            <a:srgbClr val="F6E98C"/>
          </a:solidFill>
          <a:ln w="14288">
            <a:solidFill>
              <a:srgbClr val="2B2A28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8487817" y="18240375"/>
            <a:ext cx="49053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+15</a:t>
            </a:r>
            <a:endParaRPr lang="en-US" sz="825" dirty="0"/>
          </a:p>
        </p:txBody>
      </p:sp>
      <p:sp>
        <p:nvSpPr>
          <p:cNvPr id="279" name="Shape 277"/>
          <p:cNvSpPr/>
          <p:nvPr/>
        </p:nvSpPr>
        <p:spPr>
          <a:xfrm>
            <a:off x="9011692" y="18168938"/>
            <a:ext cx="442913" cy="271463"/>
          </a:xfrm>
          <a:prstGeom prst="roundRect">
            <a:avLst>
              <a:gd name="adj" fmla="val 24561"/>
            </a:avLst>
          </a:prstGeom>
          <a:solidFill>
            <a:srgbClr val="F6E98C"/>
          </a:solidFill>
          <a:ln w="14288">
            <a:solidFill>
              <a:srgbClr val="2B2A28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8987879" y="18240375"/>
            <a:ext cx="49053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+25</a:t>
            </a:r>
            <a:endParaRPr lang="en-US" sz="825" dirty="0"/>
          </a:p>
        </p:txBody>
      </p:sp>
      <p:sp>
        <p:nvSpPr>
          <p:cNvPr id="281" name="Shape 279"/>
          <p:cNvSpPr/>
          <p:nvPr/>
        </p:nvSpPr>
        <p:spPr>
          <a:xfrm>
            <a:off x="7511504" y="18535650"/>
            <a:ext cx="609600" cy="423863"/>
          </a:xfrm>
          <a:prstGeom prst="roundRect">
            <a:avLst>
              <a:gd name="adj" fmla="val 17978"/>
            </a:avLst>
          </a:prstGeom>
          <a:ln w="14288">
            <a:solidFill>
              <a:srgbClr val="CFCCC4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7487692" y="18654712"/>
            <a:ext cx="657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200" dirty="0"/>
          </a:p>
        </p:txBody>
      </p:sp>
      <p:sp>
        <p:nvSpPr>
          <p:cNvPr id="283" name="Shape 281"/>
          <p:cNvSpPr/>
          <p:nvPr/>
        </p:nvSpPr>
        <p:spPr>
          <a:xfrm>
            <a:off x="8178254" y="18535650"/>
            <a:ext cx="609600" cy="423863"/>
          </a:xfrm>
          <a:prstGeom prst="roundRect">
            <a:avLst>
              <a:gd name="adj" fmla="val 17978"/>
            </a:avLst>
          </a:prstGeom>
          <a:ln w="14288">
            <a:solidFill>
              <a:srgbClr val="CFCCC4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8154442" y="18654712"/>
            <a:ext cx="657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285" name="Shape 283"/>
          <p:cNvSpPr/>
          <p:nvPr/>
        </p:nvSpPr>
        <p:spPr>
          <a:xfrm>
            <a:off x="8845004" y="18535650"/>
            <a:ext cx="609600" cy="423863"/>
          </a:xfrm>
          <a:prstGeom prst="roundRect">
            <a:avLst>
              <a:gd name="adj" fmla="val 17978"/>
            </a:avLst>
          </a:prstGeom>
          <a:ln w="14288">
            <a:solidFill>
              <a:srgbClr val="CFCCC4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8821192" y="18654712"/>
            <a:ext cx="657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287" name="Shape 285"/>
          <p:cNvSpPr/>
          <p:nvPr/>
        </p:nvSpPr>
        <p:spPr>
          <a:xfrm>
            <a:off x="7511504" y="19016663"/>
            <a:ext cx="609600" cy="423863"/>
          </a:xfrm>
          <a:prstGeom prst="roundRect">
            <a:avLst>
              <a:gd name="adj" fmla="val 17978"/>
            </a:avLst>
          </a:prstGeom>
          <a:ln w="14288">
            <a:solidFill>
              <a:srgbClr val="CFCCC4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7487692" y="19135725"/>
            <a:ext cx="657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289" name="Shape 287"/>
          <p:cNvSpPr/>
          <p:nvPr/>
        </p:nvSpPr>
        <p:spPr>
          <a:xfrm>
            <a:off x="8178254" y="19016663"/>
            <a:ext cx="609600" cy="423863"/>
          </a:xfrm>
          <a:prstGeom prst="roundRect">
            <a:avLst>
              <a:gd name="adj" fmla="val 17978"/>
            </a:avLst>
          </a:prstGeom>
          <a:ln w="14288">
            <a:solidFill>
              <a:srgbClr val="CFCCC4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8154442" y="19135725"/>
            <a:ext cx="657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sp>
        <p:nvSpPr>
          <p:cNvPr id="291" name="Shape 289"/>
          <p:cNvSpPr/>
          <p:nvPr/>
        </p:nvSpPr>
        <p:spPr>
          <a:xfrm>
            <a:off x="8845004" y="19016663"/>
            <a:ext cx="609600" cy="423863"/>
          </a:xfrm>
          <a:prstGeom prst="roundRect">
            <a:avLst>
              <a:gd name="adj" fmla="val 17978"/>
            </a:avLst>
          </a:prstGeom>
          <a:ln w="14288">
            <a:solidFill>
              <a:srgbClr val="CFCCC4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8821192" y="19135725"/>
            <a:ext cx="657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  <p:sp>
        <p:nvSpPr>
          <p:cNvPr id="293" name="Shape 291"/>
          <p:cNvSpPr/>
          <p:nvPr/>
        </p:nvSpPr>
        <p:spPr>
          <a:xfrm>
            <a:off x="7511504" y="19497675"/>
            <a:ext cx="609600" cy="423863"/>
          </a:xfrm>
          <a:prstGeom prst="roundRect">
            <a:avLst>
              <a:gd name="adj" fmla="val 17978"/>
            </a:avLst>
          </a:prstGeom>
          <a:ln w="14288">
            <a:solidFill>
              <a:srgbClr val="CFCCC4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7487692" y="19616738"/>
            <a:ext cx="657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  <p:sp>
        <p:nvSpPr>
          <p:cNvPr id="295" name="Shape 293"/>
          <p:cNvSpPr/>
          <p:nvPr/>
        </p:nvSpPr>
        <p:spPr>
          <a:xfrm>
            <a:off x="8178254" y="19497675"/>
            <a:ext cx="609600" cy="423863"/>
          </a:xfrm>
          <a:prstGeom prst="roundRect">
            <a:avLst>
              <a:gd name="adj" fmla="val 17978"/>
            </a:avLst>
          </a:prstGeom>
          <a:ln w="14288">
            <a:solidFill>
              <a:srgbClr val="CFCCC4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8154442" y="19616738"/>
            <a:ext cx="657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  <p:sp>
        <p:nvSpPr>
          <p:cNvPr id="297" name="Shape 295"/>
          <p:cNvSpPr/>
          <p:nvPr/>
        </p:nvSpPr>
        <p:spPr>
          <a:xfrm>
            <a:off x="8845004" y="19497675"/>
            <a:ext cx="609600" cy="423863"/>
          </a:xfrm>
          <a:prstGeom prst="roundRect">
            <a:avLst>
              <a:gd name="adj" fmla="val 17978"/>
            </a:avLst>
          </a:prstGeom>
          <a:ln w="14288">
            <a:solidFill>
              <a:srgbClr val="CFCCC4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8821192" y="19616738"/>
            <a:ext cx="657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  <p:sp>
        <p:nvSpPr>
          <p:cNvPr id="299" name="Shape 297"/>
          <p:cNvSpPr/>
          <p:nvPr/>
        </p:nvSpPr>
        <p:spPr>
          <a:xfrm>
            <a:off x="7511504" y="19978688"/>
            <a:ext cx="609600" cy="423863"/>
          </a:xfrm>
          <a:prstGeom prst="roundRect">
            <a:avLst>
              <a:gd name="adj" fmla="val 17978"/>
            </a:avLst>
          </a:prstGeom>
          <a:ln w="14288">
            <a:solidFill>
              <a:srgbClr val="CFCCC4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7487692" y="20097750"/>
            <a:ext cx="657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⌫</a:t>
            </a:r>
            <a:endParaRPr lang="en-US" sz="1200" dirty="0"/>
          </a:p>
        </p:txBody>
      </p:sp>
      <p:sp>
        <p:nvSpPr>
          <p:cNvPr id="301" name="Shape 299"/>
          <p:cNvSpPr/>
          <p:nvPr/>
        </p:nvSpPr>
        <p:spPr>
          <a:xfrm>
            <a:off x="8178254" y="19978688"/>
            <a:ext cx="609600" cy="423863"/>
          </a:xfrm>
          <a:prstGeom prst="roundRect">
            <a:avLst>
              <a:gd name="adj" fmla="val 17978"/>
            </a:avLst>
          </a:prstGeom>
          <a:ln w="14288">
            <a:solidFill>
              <a:srgbClr val="CFCCC4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8154442" y="20097750"/>
            <a:ext cx="657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endParaRPr lang="en-US" sz="1200" dirty="0"/>
          </a:p>
        </p:txBody>
      </p:sp>
      <p:sp>
        <p:nvSpPr>
          <p:cNvPr id="303" name="Shape 301"/>
          <p:cNvSpPr/>
          <p:nvPr/>
        </p:nvSpPr>
        <p:spPr>
          <a:xfrm>
            <a:off x="8845004" y="19978688"/>
            <a:ext cx="609600" cy="423863"/>
          </a:xfrm>
          <a:prstGeom prst="roundRect">
            <a:avLst>
              <a:gd name="adj" fmla="val 17978"/>
            </a:avLst>
          </a:prstGeom>
          <a:solidFill>
            <a:srgbClr val="3866C4"/>
          </a:solidFill>
          <a:ln w="14288">
            <a:solidFill>
              <a:srgbClr val="2B2A28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8821192" y="20097750"/>
            <a:ext cx="657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↵</a:t>
            </a:r>
            <a:endParaRPr lang="en-US" sz="1200" dirty="0"/>
          </a:p>
        </p:txBody>
      </p:sp>
      <p:sp>
        <p:nvSpPr>
          <p:cNvPr id="305" name="Text 303"/>
          <p:cNvSpPr/>
          <p:nvPr/>
        </p:nvSpPr>
        <p:spPr>
          <a:xfrm>
            <a:off x="7359104" y="20688300"/>
            <a:ext cx="2324100" cy="693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chips = Phase 10 point values </a:t>
            </a:r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2B2A28"/>
                </a:solidFill>
                <a:highlight>
                  <a:srgbClr val="F6E98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(5 / 10 / 15 / 25) </a:t>
            </a:r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Generic swaps these for +/−.</a:t>
            </a:r>
            <a:endParaRPr lang="en-US" sz="1275" dirty="0"/>
          </a:p>
        </p:txBody>
      </p:sp>
      <p:sp>
        <p:nvSpPr>
          <p:cNvPr id="306" name="Text 304"/>
          <p:cNvSpPr/>
          <p:nvPr/>
        </p:nvSpPr>
        <p:spPr>
          <a:xfrm>
            <a:off x="9988004" y="17230725"/>
            <a:ext cx="188595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faithful to a paper pad, but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highlight>
                  <a:srgbClr val="F6E98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scrolls sideways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~3 players.</a:t>
            </a:r>
            <a:endParaRPr lang="en-US" sz="1350" dirty="0"/>
          </a:p>
        </p:txBody>
      </p:sp>
      <p:sp>
        <p:nvSpPr>
          <p:cNvPr id="307" name="Text 305"/>
          <p:cNvSpPr/>
          <p:nvPr/>
        </p:nvSpPr>
        <p:spPr>
          <a:xfrm>
            <a:off x="9988004" y="18327886"/>
            <a:ext cx="188595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vertical per-player rows scale to 6+. Leaderboard always sorted (lowest wins).</a:t>
            </a:r>
            <a:endParaRPr lang="en-US" sz="1350" dirty="0"/>
          </a:p>
        </p:txBody>
      </p:sp>
      <p:sp>
        <p:nvSpPr>
          <p:cNvPr id="308" name="Text 306"/>
          <p:cNvSpPr/>
          <p:nvPr/>
        </p:nvSpPr>
        <p:spPr>
          <a:xfrm>
            <a:off x="9988004" y="19425047"/>
            <a:ext cx="188595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badge sits by the name; "made phase ✓" advances it next round.</a:t>
            </a:r>
            <a:endParaRPr lang="en-US" sz="1350" dirty="0"/>
          </a:p>
        </p:txBody>
      </p:sp>
      <p:sp>
        <p:nvSpPr>
          <p:cNvPr id="309" name="Text 307"/>
          <p:cNvSpPr/>
          <p:nvPr/>
        </p:nvSpPr>
        <p:spPr>
          <a:xfrm>
            <a:off x="533400" y="23360063"/>
            <a:ext cx="123907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Yahtzee — the hard one</a:t>
            </a:r>
            <a:endParaRPr lang="en-US" sz="2550" dirty="0"/>
          </a:p>
        </p:txBody>
      </p:sp>
      <p:sp>
        <p:nvSpPr>
          <p:cNvPr id="310" name="Shape 308"/>
          <p:cNvSpPr/>
          <p:nvPr/>
        </p:nvSpPr>
        <p:spPr>
          <a:xfrm>
            <a:off x="533400" y="23750588"/>
            <a:ext cx="1143000" cy="47625"/>
          </a:xfrm>
          <a:prstGeom prst="roundRect">
            <a:avLst>
              <a:gd name="adj" fmla="val 50000"/>
            </a:avLst>
          </a:prstGeom>
          <a:solidFill>
            <a:srgbClr val="2B2A28"/>
          </a:solidFill>
          <a:ln/>
        </p:spPr>
      </p:sp>
      <p:sp>
        <p:nvSpPr>
          <p:cNvPr id="311" name="Text 309"/>
          <p:cNvSpPr/>
          <p:nvPr/>
        </p:nvSpPr>
        <p:spPr>
          <a:xfrm>
            <a:off x="533400" y="23855363"/>
            <a:ext cx="123907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Cell entry + fixed-value taps + scratch + bonus chips + auto upper-bonus — all on a small screen.</a:t>
            </a:r>
            <a:endParaRPr lang="en-US" sz="975" dirty="0"/>
          </a:p>
        </p:txBody>
      </p:sp>
      <p:sp>
        <p:nvSpPr>
          <p:cNvPr id="312" name="Text 310"/>
          <p:cNvSpPr/>
          <p:nvPr/>
        </p:nvSpPr>
        <p:spPr>
          <a:xfrm>
            <a:off x="571500" y="24217313"/>
            <a:ext cx="255004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F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full grid (rows × players)</a:t>
            </a:r>
            <a:endParaRPr lang="en-US" sz="1425" dirty="0"/>
          </a:p>
        </p:txBody>
      </p:sp>
      <p:sp>
        <p:nvSpPr>
          <p:cNvPr id="313" name="Shape 311"/>
          <p:cNvSpPr/>
          <p:nvPr/>
        </p:nvSpPr>
        <p:spPr>
          <a:xfrm>
            <a:off x="533400" y="24517350"/>
            <a:ext cx="2857500" cy="5905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40411" dir="2700000">
              <a:srgbClr val="2B2A28">
                <a:alpha val="12000"/>
              </a:srgbClr>
            </a:outerShdw>
          </a:effectLst>
        </p:spPr>
      </p:sp>
      <p:sp>
        <p:nvSpPr>
          <p:cNvPr id="314" name="Text 312"/>
          <p:cNvSpPr/>
          <p:nvPr/>
        </p:nvSpPr>
        <p:spPr>
          <a:xfrm>
            <a:off x="685800" y="24698325"/>
            <a:ext cx="64941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Yahtzee</a:t>
            </a:r>
            <a:endParaRPr lang="en-US" sz="1200" dirty="0"/>
          </a:p>
        </p:txBody>
      </p:sp>
      <p:sp>
        <p:nvSpPr>
          <p:cNvPr id="315" name="Shape 313"/>
          <p:cNvSpPr/>
          <p:nvPr/>
        </p:nvSpPr>
        <p:spPr>
          <a:xfrm>
            <a:off x="2530078" y="24669750"/>
            <a:ext cx="708422" cy="242888"/>
          </a:xfrm>
          <a:prstGeom prst="roundRect">
            <a:avLst>
              <a:gd name="adj" fmla="val 31372"/>
            </a:avLst>
          </a:prstGeom>
          <a:ln w="19050">
            <a:solidFill>
              <a:srgbClr val="C4683A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2625328" y="24726900"/>
            <a:ext cx="59412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46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 Game</a:t>
            </a:r>
            <a:endParaRPr lang="en-US" sz="825" dirty="0"/>
          </a:p>
        </p:txBody>
      </p:sp>
      <p:sp>
        <p:nvSpPr>
          <p:cNvPr id="317" name="Shape 315"/>
          <p:cNvSpPr/>
          <p:nvPr/>
        </p:nvSpPr>
        <p:spPr>
          <a:xfrm>
            <a:off x="666750" y="25174575"/>
            <a:ext cx="2590800" cy="19050"/>
          </a:xfrm>
          <a:prstGeom prst="rect">
            <a:avLst/>
          </a:prstGeom>
          <a:solidFill>
            <a:srgbClr val="2B2A28"/>
          </a:solidFill>
          <a:ln/>
        </p:spPr>
      </p:sp>
      <p:sp>
        <p:nvSpPr>
          <p:cNvPr id="318" name="Text 316"/>
          <p:cNvSpPr/>
          <p:nvPr/>
        </p:nvSpPr>
        <p:spPr>
          <a:xfrm>
            <a:off x="2019300" y="24988838"/>
            <a:ext cx="4762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Alex</a:t>
            </a:r>
            <a:endParaRPr lang="en-US" sz="825" dirty="0"/>
          </a:p>
        </p:txBody>
      </p:sp>
      <p:sp>
        <p:nvSpPr>
          <p:cNvPr id="319" name="Text 317"/>
          <p:cNvSpPr/>
          <p:nvPr/>
        </p:nvSpPr>
        <p:spPr>
          <a:xfrm>
            <a:off x="2419350" y="24988838"/>
            <a:ext cx="4762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</a:t>
            </a:r>
            <a:endParaRPr lang="en-US" sz="825" dirty="0"/>
          </a:p>
        </p:txBody>
      </p:sp>
      <p:sp>
        <p:nvSpPr>
          <p:cNvPr id="320" name="Text 318"/>
          <p:cNvSpPr/>
          <p:nvPr/>
        </p:nvSpPr>
        <p:spPr>
          <a:xfrm>
            <a:off x="2819400" y="24988838"/>
            <a:ext cx="4762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</a:t>
            </a:r>
            <a:endParaRPr lang="en-US" sz="825" dirty="0"/>
          </a:p>
        </p:txBody>
      </p:sp>
      <p:sp>
        <p:nvSpPr>
          <p:cNvPr id="321" name="Text 319"/>
          <p:cNvSpPr/>
          <p:nvPr/>
        </p:nvSpPr>
        <p:spPr>
          <a:xfrm>
            <a:off x="666750" y="25250775"/>
            <a:ext cx="2668524" cy="147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41" kern="0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UPPER</a:t>
            </a:r>
            <a:endParaRPr lang="en-US" sz="675" dirty="0"/>
          </a:p>
        </p:txBody>
      </p:sp>
      <p:sp>
        <p:nvSpPr>
          <p:cNvPr id="322" name="Text 320"/>
          <p:cNvSpPr/>
          <p:nvPr/>
        </p:nvSpPr>
        <p:spPr>
          <a:xfrm>
            <a:off x="666750" y="25417463"/>
            <a:ext cx="152971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Ones</a:t>
            </a:r>
            <a:endParaRPr lang="en-US" sz="900" dirty="0"/>
          </a:p>
        </p:txBody>
      </p:sp>
      <p:sp>
        <p:nvSpPr>
          <p:cNvPr id="323" name="Text 321"/>
          <p:cNvSpPr/>
          <p:nvPr/>
        </p:nvSpPr>
        <p:spPr>
          <a:xfrm>
            <a:off x="2019300" y="25417463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900" dirty="0"/>
          </a:p>
        </p:txBody>
      </p:sp>
      <p:sp>
        <p:nvSpPr>
          <p:cNvPr id="324" name="Text 322"/>
          <p:cNvSpPr/>
          <p:nvPr/>
        </p:nvSpPr>
        <p:spPr>
          <a:xfrm>
            <a:off x="2419350" y="25417463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900" dirty="0"/>
          </a:p>
        </p:txBody>
      </p:sp>
      <p:sp>
        <p:nvSpPr>
          <p:cNvPr id="325" name="Text 323"/>
          <p:cNvSpPr/>
          <p:nvPr/>
        </p:nvSpPr>
        <p:spPr>
          <a:xfrm>
            <a:off x="2819400" y="25417463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FC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900" dirty="0"/>
          </a:p>
        </p:txBody>
      </p:sp>
      <p:sp>
        <p:nvSpPr>
          <p:cNvPr id="326" name="Text 324"/>
          <p:cNvSpPr/>
          <p:nvPr/>
        </p:nvSpPr>
        <p:spPr>
          <a:xfrm>
            <a:off x="666750" y="25612725"/>
            <a:ext cx="152971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Twos</a:t>
            </a:r>
            <a:endParaRPr lang="en-US" sz="900" dirty="0"/>
          </a:p>
        </p:txBody>
      </p:sp>
      <p:sp>
        <p:nvSpPr>
          <p:cNvPr id="327" name="Text 325"/>
          <p:cNvSpPr/>
          <p:nvPr/>
        </p:nvSpPr>
        <p:spPr>
          <a:xfrm>
            <a:off x="2019300" y="25612725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900" dirty="0"/>
          </a:p>
        </p:txBody>
      </p:sp>
      <p:sp>
        <p:nvSpPr>
          <p:cNvPr id="328" name="Text 326"/>
          <p:cNvSpPr/>
          <p:nvPr/>
        </p:nvSpPr>
        <p:spPr>
          <a:xfrm>
            <a:off x="2419350" y="25612725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900" dirty="0"/>
          </a:p>
        </p:txBody>
      </p:sp>
      <p:sp>
        <p:nvSpPr>
          <p:cNvPr id="329" name="Text 327"/>
          <p:cNvSpPr/>
          <p:nvPr/>
        </p:nvSpPr>
        <p:spPr>
          <a:xfrm>
            <a:off x="2819400" y="25612725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900" dirty="0"/>
          </a:p>
        </p:txBody>
      </p:sp>
      <p:sp>
        <p:nvSpPr>
          <p:cNvPr id="330" name="Text 328"/>
          <p:cNvSpPr/>
          <p:nvPr/>
        </p:nvSpPr>
        <p:spPr>
          <a:xfrm>
            <a:off x="666750" y="25807988"/>
            <a:ext cx="152971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Threes</a:t>
            </a:r>
            <a:endParaRPr lang="en-US" sz="900" dirty="0"/>
          </a:p>
        </p:txBody>
      </p:sp>
      <p:sp>
        <p:nvSpPr>
          <p:cNvPr id="331" name="Text 329"/>
          <p:cNvSpPr/>
          <p:nvPr/>
        </p:nvSpPr>
        <p:spPr>
          <a:xfrm>
            <a:off x="2019300" y="25807988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900" dirty="0"/>
          </a:p>
        </p:txBody>
      </p:sp>
      <p:sp>
        <p:nvSpPr>
          <p:cNvPr id="332" name="Text 330"/>
          <p:cNvSpPr/>
          <p:nvPr/>
        </p:nvSpPr>
        <p:spPr>
          <a:xfrm>
            <a:off x="2419350" y="25807988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FC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900" dirty="0"/>
          </a:p>
        </p:txBody>
      </p:sp>
      <p:sp>
        <p:nvSpPr>
          <p:cNvPr id="333" name="Text 331"/>
          <p:cNvSpPr/>
          <p:nvPr/>
        </p:nvSpPr>
        <p:spPr>
          <a:xfrm>
            <a:off x="2819400" y="25807988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900" dirty="0"/>
          </a:p>
        </p:txBody>
      </p:sp>
      <p:sp>
        <p:nvSpPr>
          <p:cNvPr id="334" name="Text 332"/>
          <p:cNvSpPr/>
          <p:nvPr/>
        </p:nvSpPr>
        <p:spPr>
          <a:xfrm>
            <a:off x="666750" y="26003250"/>
            <a:ext cx="152971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Fours…Sixes</a:t>
            </a:r>
            <a:endParaRPr lang="en-US" sz="900" dirty="0"/>
          </a:p>
        </p:txBody>
      </p:sp>
      <p:sp>
        <p:nvSpPr>
          <p:cNvPr id="335" name="Text 333"/>
          <p:cNvSpPr/>
          <p:nvPr/>
        </p:nvSpPr>
        <p:spPr>
          <a:xfrm>
            <a:off x="2019300" y="26003250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FC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900" dirty="0"/>
          </a:p>
        </p:txBody>
      </p:sp>
      <p:sp>
        <p:nvSpPr>
          <p:cNvPr id="336" name="Text 334"/>
          <p:cNvSpPr/>
          <p:nvPr/>
        </p:nvSpPr>
        <p:spPr>
          <a:xfrm>
            <a:off x="2419350" y="26003250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900" dirty="0"/>
          </a:p>
        </p:txBody>
      </p:sp>
      <p:sp>
        <p:nvSpPr>
          <p:cNvPr id="337" name="Text 335"/>
          <p:cNvSpPr/>
          <p:nvPr/>
        </p:nvSpPr>
        <p:spPr>
          <a:xfrm>
            <a:off x="2819400" y="26003250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FC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900" dirty="0"/>
          </a:p>
        </p:txBody>
      </p:sp>
      <p:sp>
        <p:nvSpPr>
          <p:cNvPr id="338" name="Shape 336"/>
          <p:cNvSpPr/>
          <p:nvPr/>
        </p:nvSpPr>
        <p:spPr>
          <a:xfrm>
            <a:off x="666750" y="26198513"/>
            <a:ext cx="2590800" cy="233362"/>
          </a:xfrm>
          <a:prstGeom prst="roundRect">
            <a:avLst>
              <a:gd name="adj" fmla="val 28571"/>
            </a:avLst>
          </a:prstGeom>
          <a:solidFill>
            <a:srgbClr val="F4F3EF"/>
          </a:solidFill>
          <a:ln/>
        </p:spPr>
      </p:sp>
      <p:sp>
        <p:nvSpPr>
          <p:cNvPr id="339" name="Text 337"/>
          <p:cNvSpPr/>
          <p:nvPr/>
        </p:nvSpPr>
        <p:spPr>
          <a:xfrm>
            <a:off x="723900" y="26258044"/>
            <a:ext cx="140398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Bonus </a:t>
            </a:r>
            <a:pPr algn="l" indent="0" marL="0">
              <a:buNone/>
            </a:pPr>
            <a:r>
              <a:rPr lang="en-US" sz="750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 · 47/63</a:t>
            </a:r>
            <a:endParaRPr lang="en-US" sz="750" dirty="0"/>
          </a:p>
        </p:txBody>
      </p:sp>
      <p:sp>
        <p:nvSpPr>
          <p:cNvPr id="340" name="Text 338"/>
          <p:cNvSpPr/>
          <p:nvPr/>
        </p:nvSpPr>
        <p:spPr>
          <a:xfrm>
            <a:off x="1962150" y="26246138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endParaRPr lang="en-US" sz="900" dirty="0"/>
          </a:p>
        </p:txBody>
      </p:sp>
      <p:sp>
        <p:nvSpPr>
          <p:cNvPr id="341" name="Text 339"/>
          <p:cNvSpPr/>
          <p:nvPr/>
        </p:nvSpPr>
        <p:spPr>
          <a:xfrm>
            <a:off x="2362200" y="26246138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8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+35</a:t>
            </a:r>
            <a:endParaRPr lang="en-US" sz="900" dirty="0"/>
          </a:p>
        </p:txBody>
      </p:sp>
      <p:sp>
        <p:nvSpPr>
          <p:cNvPr id="342" name="Text 340"/>
          <p:cNvSpPr/>
          <p:nvPr/>
        </p:nvSpPr>
        <p:spPr>
          <a:xfrm>
            <a:off x="2762250" y="26246138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endParaRPr lang="en-US" sz="900" dirty="0"/>
          </a:p>
        </p:txBody>
      </p:sp>
      <p:sp>
        <p:nvSpPr>
          <p:cNvPr id="343" name="Text 341"/>
          <p:cNvSpPr/>
          <p:nvPr/>
        </p:nvSpPr>
        <p:spPr>
          <a:xfrm>
            <a:off x="666750" y="26517600"/>
            <a:ext cx="2668524" cy="147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41" kern="0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LOWER</a:t>
            </a:r>
            <a:endParaRPr lang="en-US" sz="675" dirty="0"/>
          </a:p>
        </p:txBody>
      </p:sp>
      <p:sp>
        <p:nvSpPr>
          <p:cNvPr id="344" name="Text 342"/>
          <p:cNvSpPr/>
          <p:nvPr/>
        </p:nvSpPr>
        <p:spPr>
          <a:xfrm>
            <a:off x="666750" y="26684288"/>
            <a:ext cx="152971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4 of a kind</a:t>
            </a:r>
            <a:endParaRPr lang="en-US" sz="900" dirty="0"/>
          </a:p>
        </p:txBody>
      </p:sp>
      <p:sp>
        <p:nvSpPr>
          <p:cNvPr id="345" name="Text 343"/>
          <p:cNvSpPr/>
          <p:nvPr/>
        </p:nvSpPr>
        <p:spPr>
          <a:xfrm>
            <a:off x="2019300" y="26684288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900" dirty="0"/>
          </a:p>
        </p:txBody>
      </p:sp>
      <p:sp>
        <p:nvSpPr>
          <p:cNvPr id="346" name="Text 344"/>
          <p:cNvSpPr/>
          <p:nvPr/>
        </p:nvSpPr>
        <p:spPr>
          <a:xfrm>
            <a:off x="2419350" y="26684288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900" dirty="0"/>
          </a:p>
        </p:txBody>
      </p:sp>
      <p:sp>
        <p:nvSpPr>
          <p:cNvPr id="347" name="Text 345"/>
          <p:cNvSpPr/>
          <p:nvPr/>
        </p:nvSpPr>
        <p:spPr>
          <a:xfrm>
            <a:off x="2819400" y="26684288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FC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900" dirty="0"/>
          </a:p>
        </p:txBody>
      </p:sp>
      <p:sp>
        <p:nvSpPr>
          <p:cNvPr id="348" name="Text 346"/>
          <p:cNvSpPr/>
          <p:nvPr/>
        </p:nvSpPr>
        <p:spPr>
          <a:xfrm>
            <a:off x="666750" y="26879550"/>
            <a:ext cx="152971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House</a:t>
            </a:r>
            <a:endParaRPr lang="en-US" sz="900" dirty="0"/>
          </a:p>
        </p:txBody>
      </p:sp>
      <p:sp>
        <p:nvSpPr>
          <p:cNvPr id="349" name="Text 347"/>
          <p:cNvSpPr/>
          <p:nvPr/>
        </p:nvSpPr>
        <p:spPr>
          <a:xfrm>
            <a:off x="2019300" y="26879550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900" dirty="0"/>
          </a:p>
        </p:txBody>
      </p:sp>
      <p:sp>
        <p:nvSpPr>
          <p:cNvPr id="350" name="Text 348"/>
          <p:cNvSpPr/>
          <p:nvPr/>
        </p:nvSpPr>
        <p:spPr>
          <a:xfrm>
            <a:off x="2419350" y="26879550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46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</a:t>
            </a:r>
            <a:endParaRPr lang="en-US" sz="900" dirty="0"/>
          </a:p>
        </p:txBody>
      </p:sp>
      <p:sp>
        <p:nvSpPr>
          <p:cNvPr id="351" name="Text 349"/>
          <p:cNvSpPr/>
          <p:nvPr/>
        </p:nvSpPr>
        <p:spPr>
          <a:xfrm>
            <a:off x="2819400" y="26879550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FC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900" dirty="0"/>
          </a:p>
        </p:txBody>
      </p:sp>
      <p:sp>
        <p:nvSpPr>
          <p:cNvPr id="352" name="Text 350"/>
          <p:cNvSpPr/>
          <p:nvPr/>
        </p:nvSpPr>
        <p:spPr>
          <a:xfrm>
            <a:off x="666750" y="27074813"/>
            <a:ext cx="152971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 / Lg Straight</a:t>
            </a:r>
            <a:endParaRPr lang="en-US" sz="900" dirty="0"/>
          </a:p>
        </p:txBody>
      </p:sp>
      <p:sp>
        <p:nvSpPr>
          <p:cNvPr id="353" name="Text 351"/>
          <p:cNvSpPr/>
          <p:nvPr/>
        </p:nvSpPr>
        <p:spPr>
          <a:xfrm>
            <a:off x="2019300" y="27074813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</a:t>
            </a:r>
            <a:endParaRPr lang="en-US" sz="900" dirty="0"/>
          </a:p>
        </p:txBody>
      </p:sp>
      <p:sp>
        <p:nvSpPr>
          <p:cNvPr id="354" name="Text 352"/>
          <p:cNvSpPr/>
          <p:nvPr/>
        </p:nvSpPr>
        <p:spPr>
          <a:xfrm>
            <a:off x="2419350" y="27074813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</a:t>
            </a:r>
            <a:endParaRPr lang="en-US" sz="900" dirty="0"/>
          </a:p>
        </p:txBody>
      </p:sp>
      <p:sp>
        <p:nvSpPr>
          <p:cNvPr id="355" name="Text 353"/>
          <p:cNvSpPr/>
          <p:nvPr/>
        </p:nvSpPr>
        <p:spPr>
          <a:xfrm>
            <a:off x="2819400" y="27074813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FC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900" dirty="0"/>
          </a:p>
        </p:txBody>
      </p:sp>
      <p:sp>
        <p:nvSpPr>
          <p:cNvPr id="356" name="Text 354"/>
          <p:cNvSpPr/>
          <p:nvPr/>
        </p:nvSpPr>
        <p:spPr>
          <a:xfrm>
            <a:off x="666750" y="27270075"/>
            <a:ext cx="152971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Yahtzee </a:t>
            </a:r>
            <a:pPr algn="l" indent="0" marL="0">
              <a:buNone/>
            </a:pPr>
            <a:r>
              <a:rPr lang="en-US" sz="750" b="1" dirty="0">
                <a:solidFill>
                  <a:srgbClr val="3866C4"/>
                </a:solidFill>
                <a:highlight>
                  <a:srgbClr val="E2E9F7"/>
                </a:highlight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+100 ×2</a:t>
            </a:r>
            <a:endParaRPr lang="en-US" sz="900" dirty="0"/>
          </a:p>
        </p:txBody>
      </p:sp>
      <p:sp>
        <p:nvSpPr>
          <p:cNvPr id="357" name="Text 355"/>
          <p:cNvSpPr/>
          <p:nvPr/>
        </p:nvSpPr>
        <p:spPr>
          <a:xfrm>
            <a:off x="2019300" y="27270075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</a:t>
            </a:r>
            <a:endParaRPr lang="en-US" sz="900" dirty="0"/>
          </a:p>
        </p:txBody>
      </p:sp>
      <p:sp>
        <p:nvSpPr>
          <p:cNvPr id="358" name="Text 356"/>
          <p:cNvSpPr/>
          <p:nvPr/>
        </p:nvSpPr>
        <p:spPr>
          <a:xfrm>
            <a:off x="2419350" y="27270075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FC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900" dirty="0"/>
          </a:p>
        </p:txBody>
      </p:sp>
      <p:sp>
        <p:nvSpPr>
          <p:cNvPr id="359" name="Text 357"/>
          <p:cNvSpPr/>
          <p:nvPr/>
        </p:nvSpPr>
        <p:spPr>
          <a:xfrm>
            <a:off x="2819400" y="27270075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FC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900" dirty="0"/>
          </a:p>
        </p:txBody>
      </p:sp>
      <p:sp>
        <p:nvSpPr>
          <p:cNvPr id="360" name="Text 358"/>
          <p:cNvSpPr/>
          <p:nvPr/>
        </p:nvSpPr>
        <p:spPr>
          <a:xfrm>
            <a:off x="666750" y="27465338"/>
            <a:ext cx="152971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Chance</a:t>
            </a:r>
            <a:endParaRPr lang="en-US" sz="900" dirty="0"/>
          </a:p>
        </p:txBody>
      </p:sp>
      <p:sp>
        <p:nvSpPr>
          <p:cNvPr id="361" name="Text 359"/>
          <p:cNvSpPr/>
          <p:nvPr/>
        </p:nvSpPr>
        <p:spPr>
          <a:xfrm>
            <a:off x="2019300" y="27465338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900" dirty="0"/>
          </a:p>
        </p:txBody>
      </p:sp>
      <p:sp>
        <p:nvSpPr>
          <p:cNvPr id="362" name="Text 360"/>
          <p:cNvSpPr/>
          <p:nvPr/>
        </p:nvSpPr>
        <p:spPr>
          <a:xfrm>
            <a:off x="2419350" y="27465338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900" dirty="0"/>
          </a:p>
        </p:txBody>
      </p:sp>
      <p:sp>
        <p:nvSpPr>
          <p:cNvPr id="363" name="Text 361"/>
          <p:cNvSpPr/>
          <p:nvPr/>
        </p:nvSpPr>
        <p:spPr>
          <a:xfrm>
            <a:off x="2819400" y="27465338"/>
            <a:ext cx="476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FC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900" dirty="0"/>
          </a:p>
        </p:txBody>
      </p:sp>
      <p:sp>
        <p:nvSpPr>
          <p:cNvPr id="364" name="Shape 362"/>
          <p:cNvSpPr/>
          <p:nvPr/>
        </p:nvSpPr>
        <p:spPr>
          <a:xfrm>
            <a:off x="666750" y="30008513"/>
            <a:ext cx="2590800" cy="19050"/>
          </a:xfrm>
          <a:prstGeom prst="rect">
            <a:avLst/>
          </a:prstGeom>
          <a:solidFill>
            <a:srgbClr val="2B2A28"/>
          </a:solidFill>
          <a:ln/>
        </p:spPr>
      </p:sp>
      <p:sp>
        <p:nvSpPr>
          <p:cNvPr id="365" name="Text 363"/>
          <p:cNvSpPr/>
          <p:nvPr/>
        </p:nvSpPr>
        <p:spPr>
          <a:xfrm>
            <a:off x="666750" y="30103763"/>
            <a:ext cx="152971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Total</a:t>
            </a:r>
            <a:endParaRPr lang="en-US" sz="1200" dirty="0"/>
          </a:p>
        </p:txBody>
      </p:sp>
      <p:sp>
        <p:nvSpPr>
          <p:cNvPr id="366" name="Text 364"/>
          <p:cNvSpPr/>
          <p:nvPr/>
        </p:nvSpPr>
        <p:spPr>
          <a:xfrm>
            <a:off x="2019300" y="30103763"/>
            <a:ext cx="4762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8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456</a:t>
            </a:r>
            <a:endParaRPr lang="en-US" sz="1200" dirty="0"/>
          </a:p>
        </p:txBody>
      </p:sp>
      <p:sp>
        <p:nvSpPr>
          <p:cNvPr id="367" name="Text 365"/>
          <p:cNvSpPr/>
          <p:nvPr/>
        </p:nvSpPr>
        <p:spPr>
          <a:xfrm>
            <a:off x="2419350" y="30103763"/>
            <a:ext cx="4762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388</a:t>
            </a:r>
            <a:endParaRPr lang="en-US" sz="1200" dirty="0"/>
          </a:p>
        </p:txBody>
      </p:sp>
      <p:sp>
        <p:nvSpPr>
          <p:cNvPr id="368" name="Text 366"/>
          <p:cNvSpPr/>
          <p:nvPr/>
        </p:nvSpPr>
        <p:spPr>
          <a:xfrm>
            <a:off x="2819400" y="30103763"/>
            <a:ext cx="4762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</a:t>
            </a:r>
            <a:endParaRPr lang="en-US" sz="1200" dirty="0"/>
          </a:p>
        </p:txBody>
      </p:sp>
      <p:sp>
        <p:nvSpPr>
          <p:cNvPr id="369" name="Text 367"/>
          <p:cNvSpPr/>
          <p:nvPr/>
        </p:nvSpPr>
        <p:spPr>
          <a:xfrm>
            <a:off x="3810000" y="24217313"/>
            <a:ext cx="219094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F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one player at a time</a:t>
            </a:r>
            <a:endParaRPr lang="en-US" sz="1425" dirty="0"/>
          </a:p>
        </p:txBody>
      </p:sp>
      <p:sp>
        <p:nvSpPr>
          <p:cNvPr id="370" name="Shape 368"/>
          <p:cNvSpPr/>
          <p:nvPr/>
        </p:nvSpPr>
        <p:spPr>
          <a:xfrm>
            <a:off x="3771900" y="24517350"/>
            <a:ext cx="2857500" cy="5905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40411" dir="2700000">
              <a:srgbClr val="2B2A28">
                <a:alpha val="12000"/>
              </a:srgbClr>
            </a:outerShdw>
          </a:effectLst>
        </p:spPr>
      </p:sp>
      <p:sp>
        <p:nvSpPr>
          <p:cNvPr id="371" name="Shape 369"/>
          <p:cNvSpPr/>
          <p:nvPr/>
        </p:nvSpPr>
        <p:spPr>
          <a:xfrm>
            <a:off x="3924300" y="24669750"/>
            <a:ext cx="342900" cy="342900"/>
          </a:xfrm>
          <a:prstGeom prst="ellipse">
            <a:avLst/>
          </a:prstGeom>
          <a:solidFill>
            <a:srgbClr val="3866C4"/>
          </a:solidFill>
          <a:ln w="19050">
            <a:solidFill>
              <a:srgbClr val="2B2A28"/>
            </a:solidFill>
            <a:prstDash val="solid"/>
          </a:ln>
        </p:spPr>
      </p:sp>
      <p:sp>
        <p:nvSpPr>
          <p:cNvPr id="372" name="Text 370"/>
          <p:cNvSpPr/>
          <p:nvPr/>
        </p:nvSpPr>
        <p:spPr>
          <a:xfrm>
            <a:off x="3997896" y="25041225"/>
            <a:ext cx="271909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Alex</a:t>
            </a:r>
            <a:endParaRPr lang="en-US" sz="750" dirty="0"/>
          </a:p>
        </p:txBody>
      </p:sp>
      <p:sp>
        <p:nvSpPr>
          <p:cNvPr id="373" name="Shape 371"/>
          <p:cNvSpPr/>
          <p:nvPr/>
        </p:nvSpPr>
        <p:spPr>
          <a:xfrm>
            <a:off x="4343400" y="24691181"/>
            <a:ext cx="304800" cy="304800"/>
          </a:xfrm>
          <a:prstGeom prst="ellipse">
            <a:avLst/>
          </a:prstGeom>
          <a:solidFill>
            <a:srgbClr val="4A8A5C"/>
          </a:solidFill>
          <a:ln/>
        </p:spPr>
      </p:sp>
      <p:sp>
        <p:nvSpPr>
          <p:cNvPr id="374" name="Text 372"/>
          <p:cNvSpPr/>
          <p:nvPr/>
        </p:nvSpPr>
        <p:spPr>
          <a:xfrm>
            <a:off x="4398690" y="25024556"/>
            <a:ext cx="27034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</a:t>
            </a:r>
            <a:endParaRPr lang="en-US" sz="750" dirty="0"/>
          </a:p>
        </p:txBody>
      </p:sp>
      <p:sp>
        <p:nvSpPr>
          <p:cNvPr id="375" name="Shape 373"/>
          <p:cNvSpPr/>
          <p:nvPr/>
        </p:nvSpPr>
        <p:spPr>
          <a:xfrm>
            <a:off x="4724400" y="24691181"/>
            <a:ext cx="304800" cy="304800"/>
          </a:xfrm>
          <a:prstGeom prst="ellipse">
            <a:avLst/>
          </a:prstGeom>
          <a:solidFill>
            <a:srgbClr val="C4683A"/>
          </a:solidFill>
          <a:ln/>
        </p:spPr>
      </p:sp>
      <p:sp>
        <p:nvSpPr>
          <p:cNvPr id="376" name="Text 374"/>
          <p:cNvSpPr/>
          <p:nvPr/>
        </p:nvSpPr>
        <p:spPr>
          <a:xfrm>
            <a:off x="4729386" y="25024556"/>
            <a:ext cx="37095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Jordan</a:t>
            </a:r>
            <a:endParaRPr lang="en-US" sz="750" dirty="0"/>
          </a:p>
        </p:txBody>
      </p:sp>
      <p:sp>
        <p:nvSpPr>
          <p:cNvPr id="377" name="Text 375"/>
          <p:cNvSpPr/>
          <p:nvPr/>
        </p:nvSpPr>
        <p:spPr>
          <a:xfrm>
            <a:off x="6051203" y="24726900"/>
            <a:ext cx="425797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TOTAL</a:t>
            </a:r>
            <a:endParaRPr lang="en-US" sz="750" dirty="0"/>
          </a:p>
        </p:txBody>
      </p:sp>
      <p:sp>
        <p:nvSpPr>
          <p:cNvPr id="378" name="Text 376"/>
          <p:cNvSpPr/>
          <p:nvPr/>
        </p:nvSpPr>
        <p:spPr>
          <a:xfrm>
            <a:off x="6051203" y="24845963"/>
            <a:ext cx="4257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4A8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456</a:t>
            </a:r>
            <a:endParaRPr lang="en-US" sz="1650" dirty="0"/>
          </a:p>
        </p:txBody>
      </p:sp>
      <p:sp>
        <p:nvSpPr>
          <p:cNvPr id="379" name="Shape 377"/>
          <p:cNvSpPr/>
          <p:nvPr/>
        </p:nvSpPr>
        <p:spPr>
          <a:xfrm>
            <a:off x="3905250" y="25274588"/>
            <a:ext cx="2590800" cy="433388"/>
          </a:xfrm>
          <a:prstGeom prst="roundRect">
            <a:avLst>
              <a:gd name="adj" fmla="val 21978"/>
            </a:avLst>
          </a:prstGeom>
          <a:solidFill>
            <a:srgbClr val="F4F3EF"/>
          </a:solidFill>
          <a:ln/>
        </p:spPr>
      </p:sp>
      <p:sp>
        <p:nvSpPr>
          <p:cNvPr id="380" name="Text 378"/>
          <p:cNvSpPr/>
          <p:nvPr/>
        </p:nvSpPr>
        <p:spPr>
          <a:xfrm>
            <a:off x="4010025" y="25360313"/>
            <a:ext cx="77852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Upper section</a:t>
            </a:r>
            <a:endParaRPr lang="en-US" sz="825" dirty="0"/>
          </a:p>
        </p:txBody>
      </p:sp>
      <p:sp>
        <p:nvSpPr>
          <p:cNvPr id="381" name="Text 379"/>
          <p:cNvSpPr/>
          <p:nvPr/>
        </p:nvSpPr>
        <p:spPr>
          <a:xfrm>
            <a:off x="5718721" y="25360313"/>
            <a:ext cx="74875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A8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47 / 63 → +35</a:t>
            </a:r>
            <a:endParaRPr lang="en-US" sz="825" dirty="0"/>
          </a:p>
        </p:txBody>
      </p:sp>
      <p:sp>
        <p:nvSpPr>
          <p:cNvPr id="382" name="Shape 380"/>
          <p:cNvSpPr/>
          <p:nvPr/>
        </p:nvSpPr>
        <p:spPr>
          <a:xfrm>
            <a:off x="4010025" y="25546050"/>
            <a:ext cx="2381250" cy="76200"/>
          </a:xfrm>
          <a:prstGeom prst="roundRect">
            <a:avLst>
              <a:gd name="adj" fmla="val 50000"/>
            </a:avLst>
          </a:prstGeom>
          <a:solidFill>
            <a:srgbClr val="E1DDD4"/>
          </a:solidFill>
          <a:ln/>
        </p:spPr>
      </p:sp>
      <p:sp>
        <p:nvSpPr>
          <p:cNvPr id="383" name="Shape 381"/>
          <p:cNvSpPr/>
          <p:nvPr/>
        </p:nvSpPr>
        <p:spPr>
          <a:xfrm>
            <a:off x="4010025" y="25546050"/>
            <a:ext cx="1785938" cy="76200"/>
          </a:xfrm>
          <a:prstGeom prst="roundRect">
            <a:avLst>
              <a:gd name="adj" fmla="val 50000"/>
            </a:avLst>
          </a:prstGeom>
          <a:solidFill>
            <a:srgbClr val="4A8A5C"/>
          </a:solidFill>
          <a:ln/>
        </p:spPr>
      </p:sp>
      <p:sp>
        <p:nvSpPr>
          <p:cNvPr id="384" name="Text 382"/>
          <p:cNvSpPr/>
          <p:nvPr/>
        </p:nvSpPr>
        <p:spPr>
          <a:xfrm>
            <a:off x="3905250" y="25803225"/>
            <a:ext cx="284988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41" kern="0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FIXED-VALUE · TAP TO FILL</a:t>
            </a:r>
            <a:endParaRPr lang="en-US" sz="675" dirty="0"/>
          </a:p>
        </p:txBody>
      </p:sp>
      <p:sp>
        <p:nvSpPr>
          <p:cNvPr id="385" name="Shape 383"/>
          <p:cNvSpPr/>
          <p:nvPr/>
        </p:nvSpPr>
        <p:spPr>
          <a:xfrm>
            <a:off x="3905250" y="25979438"/>
            <a:ext cx="1120378" cy="309563"/>
          </a:xfrm>
          <a:prstGeom prst="roundRect">
            <a:avLst>
              <a:gd name="adj" fmla="val 50000"/>
            </a:avLst>
          </a:prstGeom>
          <a:solidFill>
            <a:srgbClr val="E6F0E9"/>
          </a:solidFill>
          <a:ln w="19050">
            <a:solidFill>
              <a:srgbClr val="4A8A5C"/>
            </a:solidFill>
            <a:prstDash val="solid"/>
          </a:ln>
        </p:spPr>
      </p:sp>
      <p:sp>
        <p:nvSpPr>
          <p:cNvPr id="386" name="Text 384"/>
          <p:cNvSpPr/>
          <p:nvPr/>
        </p:nvSpPr>
        <p:spPr>
          <a:xfrm>
            <a:off x="4038600" y="26065163"/>
            <a:ext cx="929878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House 25 ✓</a:t>
            </a:r>
            <a:endParaRPr lang="en-US" sz="900" dirty="0"/>
          </a:p>
        </p:txBody>
      </p:sp>
      <p:sp>
        <p:nvSpPr>
          <p:cNvPr id="387" name="Shape 385"/>
          <p:cNvSpPr/>
          <p:nvPr/>
        </p:nvSpPr>
        <p:spPr>
          <a:xfrm>
            <a:off x="5092303" y="25979438"/>
            <a:ext cx="1066949" cy="309563"/>
          </a:xfrm>
          <a:prstGeom prst="roundRect">
            <a:avLst>
              <a:gd name="adj" fmla="val 50000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388" name="Text 386"/>
          <p:cNvSpPr/>
          <p:nvPr/>
        </p:nvSpPr>
        <p:spPr>
          <a:xfrm>
            <a:off x="5225653" y="26065163"/>
            <a:ext cx="876449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 Straight 30</a:t>
            </a:r>
            <a:endParaRPr lang="en-US" sz="900" dirty="0"/>
          </a:p>
        </p:txBody>
      </p:sp>
      <p:sp>
        <p:nvSpPr>
          <p:cNvPr id="389" name="Shape 387"/>
          <p:cNvSpPr/>
          <p:nvPr/>
        </p:nvSpPr>
        <p:spPr>
          <a:xfrm>
            <a:off x="3905250" y="26355675"/>
            <a:ext cx="1026840" cy="309563"/>
          </a:xfrm>
          <a:prstGeom prst="roundRect">
            <a:avLst>
              <a:gd name="adj" fmla="val 50000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390" name="Text 388"/>
          <p:cNvSpPr/>
          <p:nvPr/>
        </p:nvSpPr>
        <p:spPr>
          <a:xfrm>
            <a:off x="4038600" y="26441400"/>
            <a:ext cx="83634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Lg Straight 40</a:t>
            </a:r>
            <a:endParaRPr lang="en-US" sz="900" dirty="0"/>
          </a:p>
        </p:txBody>
      </p:sp>
      <p:sp>
        <p:nvSpPr>
          <p:cNvPr id="391" name="Shape 389"/>
          <p:cNvSpPr/>
          <p:nvPr/>
        </p:nvSpPr>
        <p:spPr>
          <a:xfrm>
            <a:off x="4998765" y="26355675"/>
            <a:ext cx="1050131" cy="309563"/>
          </a:xfrm>
          <a:prstGeom prst="roundRect">
            <a:avLst>
              <a:gd name="adj" fmla="val 50000"/>
            </a:avLst>
          </a:prstGeom>
          <a:ln w="19050">
            <a:solidFill>
              <a:srgbClr val="B6B2A9"/>
            </a:solidFill>
            <a:prstDash val="dash"/>
          </a:ln>
        </p:spPr>
      </p:sp>
      <p:sp>
        <p:nvSpPr>
          <p:cNvPr id="392" name="Text 390"/>
          <p:cNvSpPr/>
          <p:nvPr/>
        </p:nvSpPr>
        <p:spPr>
          <a:xfrm>
            <a:off x="5132115" y="26441400"/>
            <a:ext cx="859631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Chance · tap #</a:t>
            </a:r>
            <a:endParaRPr lang="en-US" sz="900" dirty="0"/>
          </a:p>
        </p:txBody>
      </p:sp>
      <p:sp>
        <p:nvSpPr>
          <p:cNvPr id="393" name="Shape 391"/>
          <p:cNvSpPr/>
          <p:nvPr/>
        </p:nvSpPr>
        <p:spPr>
          <a:xfrm>
            <a:off x="3905250" y="26779538"/>
            <a:ext cx="2590800" cy="533400"/>
          </a:xfrm>
          <a:prstGeom prst="roundRect">
            <a:avLst>
              <a:gd name="adj" fmla="val 21429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394" name="Text 392"/>
          <p:cNvSpPr/>
          <p:nvPr/>
        </p:nvSpPr>
        <p:spPr>
          <a:xfrm>
            <a:off x="4029075" y="26908125"/>
            <a:ext cx="148780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Yahtzee · 50</a:t>
            </a:r>
            <a:endParaRPr lang="en-US" sz="1050" dirty="0"/>
          </a:p>
        </p:txBody>
      </p:sp>
      <p:sp>
        <p:nvSpPr>
          <p:cNvPr id="395" name="Text 393"/>
          <p:cNvSpPr/>
          <p:nvPr/>
        </p:nvSpPr>
        <p:spPr>
          <a:xfrm>
            <a:off x="4029075" y="27070050"/>
            <a:ext cx="148780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extra Yahtzees = +100 each</a:t>
            </a:r>
            <a:endParaRPr lang="en-US" sz="750" dirty="0"/>
          </a:p>
        </p:txBody>
      </p:sp>
      <p:sp>
        <p:nvSpPr>
          <p:cNvPr id="396" name="Shape 394"/>
          <p:cNvSpPr/>
          <p:nvPr/>
        </p:nvSpPr>
        <p:spPr>
          <a:xfrm>
            <a:off x="5476875" y="26903363"/>
            <a:ext cx="285750" cy="285750"/>
          </a:xfrm>
          <a:prstGeom prst="roundRect">
            <a:avLst>
              <a:gd name="adj" fmla="val 26667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397" name="Text 395"/>
          <p:cNvSpPr/>
          <p:nvPr/>
        </p:nvSpPr>
        <p:spPr>
          <a:xfrm>
            <a:off x="5457825" y="26922413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</a:t>
            </a:r>
            <a:endParaRPr lang="en-US" sz="1200" dirty="0"/>
          </a:p>
        </p:txBody>
      </p:sp>
      <p:sp>
        <p:nvSpPr>
          <p:cNvPr id="398" name="Text 396"/>
          <p:cNvSpPr/>
          <p:nvPr/>
        </p:nvSpPr>
        <p:spPr>
          <a:xfrm>
            <a:off x="5800725" y="26953369"/>
            <a:ext cx="2476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399" name="Shape 397"/>
          <p:cNvSpPr/>
          <p:nvPr/>
        </p:nvSpPr>
        <p:spPr>
          <a:xfrm>
            <a:off x="6086475" y="26903363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3866C4"/>
          </a:solidFill>
          <a:ln w="19050">
            <a:solidFill>
              <a:srgbClr val="2B2A28"/>
            </a:solidFill>
            <a:prstDash val="solid"/>
          </a:ln>
        </p:spPr>
      </p:sp>
      <p:sp>
        <p:nvSpPr>
          <p:cNvPr id="400" name="Text 398"/>
          <p:cNvSpPr/>
          <p:nvPr/>
        </p:nvSpPr>
        <p:spPr>
          <a:xfrm>
            <a:off x="6067425" y="26922413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</a:t>
            </a:r>
            <a:endParaRPr lang="en-US" sz="1200" dirty="0"/>
          </a:p>
        </p:txBody>
      </p:sp>
      <p:sp>
        <p:nvSpPr>
          <p:cNvPr id="401" name="Text 399"/>
          <p:cNvSpPr/>
          <p:nvPr/>
        </p:nvSpPr>
        <p:spPr>
          <a:xfrm>
            <a:off x="3775710" y="27389138"/>
            <a:ext cx="284988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Long-press any category → Scratch (0)</a:t>
            </a:r>
            <a:endParaRPr lang="en-US" sz="750" dirty="0"/>
          </a:p>
        </p:txBody>
      </p:sp>
      <p:sp>
        <p:nvSpPr>
          <p:cNvPr id="402" name="Shape 400"/>
          <p:cNvSpPr/>
          <p:nvPr/>
        </p:nvSpPr>
        <p:spPr>
          <a:xfrm>
            <a:off x="3905250" y="29851350"/>
            <a:ext cx="1257300" cy="438150"/>
          </a:xfrm>
          <a:prstGeom prst="roundRect">
            <a:avLst>
              <a:gd name="adj" fmla="val 26087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403" name="Text 401"/>
          <p:cNvSpPr/>
          <p:nvPr/>
        </p:nvSpPr>
        <p:spPr>
          <a:xfrm>
            <a:off x="4010025" y="29994225"/>
            <a:ext cx="1047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‹ Sam</a:t>
            </a:r>
            <a:endParaRPr lang="en-US" sz="975" dirty="0"/>
          </a:p>
        </p:txBody>
      </p:sp>
      <p:sp>
        <p:nvSpPr>
          <p:cNvPr id="404" name="Shape 402"/>
          <p:cNvSpPr/>
          <p:nvPr/>
        </p:nvSpPr>
        <p:spPr>
          <a:xfrm>
            <a:off x="5238750" y="29851350"/>
            <a:ext cx="1257300" cy="438150"/>
          </a:xfrm>
          <a:prstGeom prst="roundRect">
            <a:avLst>
              <a:gd name="adj" fmla="val 26087"/>
            </a:avLst>
          </a:prstGeom>
          <a:solidFill>
            <a:srgbClr val="3866C4"/>
          </a:solidFill>
          <a:ln w="19050">
            <a:solidFill>
              <a:srgbClr val="2B2A28"/>
            </a:solidFill>
            <a:prstDash val="solid"/>
          </a:ln>
        </p:spPr>
      </p:sp>
      <p:sp>
        <p:nvSpPr>
          <p:cNvPr id="405" name="Text 403"/>
          <p:cNvSpPr/>
          <p:nvPr/>
        </p:nvSpPr>
        <p:spPr>
          <a:xfrm>
            <a:off x="5343525" y="29994225"/>
            <a:ext cx="1047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Jordan ›</a:t>
            </a:r>
            <a:endParaRPr lang="en-US" sz="975" dirty="0"/>
          </a:p>
        </p:txBody>
      </p:sp>
      <p:sp>
        <p:nvSpPr>
          <p:cNvPr id="406" name="Text 404"/>
          <p:cNvSpPr/>
          <p:nvPr/>
        </p:nvSpPr>
        <p:spPr>
          <a:xfrm>
            <a:off x="7048500" y="24217313"/>
            <a:ext cx="200275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F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— cell tap menu</a:t>
            </a:r>
            <a:endParaRPr lang="en-US" sz="1425" dirty="0"/>
          </a:p>
        </p:txBody>
      </p:sp>
      <p:sp>
        <p:nvSpPr>
          <p:cNvPr id="407" name="Shape 405"/>
          <p:cNvSpPr/>
          <p:nvPr/>
        </p:nvSpPr>
        <p:spPr>
          <a:xfrm>
            <a:off x="7010400" y="24517350"/>
            <a:ext cx="2247900" cy="2224088"/>
          </a:xfrm>
          <a:prstGeom prst="roundRect">
            <a:avLst>
              <a:gd name="adj" fmla="val 8565"/>
            </a:avLst>
          </a:prstGeom>
          <a:solidFill>
            <a:srgbClr val="FFFFFF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40411" dir="2700000">
              <a:srgbClr val="2B2A28">
                <a:alpha val="12000"/>
              </a:srgbClr>
            </a:outerShdw>
          </a:effectLst>
        </p:spPr>
      </p:sp>
      <p:sp>
        <p:nvSpPr>
          <p:cNvPr id="408" name="Text 406"/>
          <p:cNvSpPr/>
          <p:nvPr/>
        </p:nvSpPr>
        <p:spPr>
          <a:xfrm>
            <a:off x="7162800" y="24669750"/>
            <a:ext cx="21374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House — Alex</a:t>
            </a:r>
            <a:endParaRPr lang="en-US" sz="1050" dirty="0"/>
          </a:p>
        </p:txBody>
      </p:sp>
      <p:sp>
        <p:nvSpPr>
          <p:cNvPr id="409" name="Text 407"/>
          <p:cNvSpPr/>
          <p:nvPr/>
        </p:nvSpPr>
        <p:spPr>
          <a:xfrm>
            <a:off x="7162800" y="24850725"/>
            <a:ext cx="213741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Fixed value: 25 (no typos allowed)</a:t>
            </a:r>
            <a:endParaRPr lang="en-US" sz="825" dirty="0"/>
          </a:p>
        </p:txBody>
      </p:sp>
      <p:sp>
        <p:nvSpPr>
          <p:cNvPr id="410" name="Shape 408"/>
          <p:cNvSpPr/>
          <p:nvPr/>
        </p:nvSpPr>
        <p:spPr>
          <a:xfrm>
            <a:off x="7162800" y="25093613"/>
            <a:ext cx="1943100" cy="471488"/>
          </a:xfrm>
          <a:prstGeom prst="roundRect">
            <a:avLst>
              <a:gd name="adj" fmla="val 20202"/>
            </a:avLst>
          </a:prstGeom>
          <a:solidFill>
            <a:srgbClr val="3866C4"/>
          </a:solidFill>
          <a:ln w="19050">
            <a:solidFill>
              <a:srgbClr val="2B2A28"/>
            </a:solidFill>
            <a:prstDash val="solid"/>
          </a:ln>
        </p:spPr>
      </p:sp>
      <p:sp>
        <p:nvSpPr>
          <p:cNvPr id="411" name="Text 409"/>
          <p:cNvSpPr/>
          <p:nvPr/>
        </p:nvSpPr>
        <p:spPr>
          <a:xfrm>
            <a:off x="7267575" y="25236488"/>
            <a:ext cx="17335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Fill in 25</a:t>
            </a:r>
            <a:endParaRPr lang="en-US" sz="1200" dirty="0"/>
          </a:p>
        </p:txBody>
      </p:sp>
      <p:sp>
        <p:nvSpPr>
          <p:cNvPr id="412" name="Shape 410"/>
          <p:cNvSpPr/>
          <p:nvPr/>
        </p:nvSpPr>
        <p:spPr>
          <a:xfrm>
            <a:off x="7162800" y="25641300"/>
            <a:ext cx="1943100" cy="471488"/>
          </a:xfrm>
          <a:prstGeom prst="roundRect">
            <a:avLst>
              <a:gd name="adj" fmla="val 20202"/>
            </a:avLst>
          </a:prstGeom>
          <a:ln w="19050">
            <a:solidFill>
              <a:srgbClr val="2B2A28"/>
            </a:solidFill>
            <a:prstDash val="solid"/>
          </a:ln>
        </p:spPr>
      </p:sp>
      <p:sp>
        <p:nvSpPr>
          <p:cNvPr id="413" name="Text 411"/>
          <p:cNvSpPr/>
          <p:nvPr/>
        </p:nvSpPr>
        <p:spPr>
          <a:xfrm>
            <a:off x="7267575" y="25784175"/>
            <a:ext cx="17335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Scratch — 0</a:t>
            </a:r>
            <a:endParaRPr lang="en-US" sz="1200" dirty="0"/>
          </a:p>
        </p:txBody>
      </p:sp>
      <p:sp>
        <p:nvSpPr>
          <p:cNvPr id="414" name="Shape 412"/>
          <p:cNvSpPr/>
          <p:nvPr/>
        </p:nvSpPr>
        <p:spPr>
          <a:xfrm>
            <a:off x="7162800" y="26188988"/>
            <a:ext cx="1943100" cy="400050"/>
          </a:xfrm>
          <a:prstGeom prst="roundRect">
            <a:avLst>
              <a:gd name="adj" fmla="val 23810"/>
            </a:avLst>
          </a:prstGeom>
          <a:ln w="19050">
            <a:solidFill>
              <a:srgbClr val="B6B2A9"/>
            </a:solidFill>
            <a:prstDash val="solid"/>
          </a:ln>
        </p:spPr>
      </p:sp>
      <p:sp>
        <p:nvSpPr>
          <p:cNvPr id="415" name="Text 413"/>
          <p:cNvSpPr/>
          <p:nvPr/>
        </p:nvSpPr>
        <p:spPr>
          <a:xfrm>
            <a:off x="7248525" y="26312813"/>
            <a:ext cx="17716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Cancel</a:t>
            </a:r>
            <a:endParaRPr lang="en-US" sz="975" dirty="0"/>
          </a:p>
        </p:txBody>
      </p:sp>
      <p:sp>
        <p:nvSpPr>
          <p:cNvPr id="416" name="Text 414"/>
          <p:cNvSpPr/>
          <p:nvPr/>
        </p:nvSpPr>
        <p:spPr>
          <a:xfrm>
            <a:off x="7010400" y="26874788"/>
            <a:ext cx="2324100" cy="1130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categories never free-type — just </a:t>
            </a:r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2B2A28"/>
                </a:solidFill>
                <a:highlight>
                  <a:srgbClr val="F6E98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fill or scratch </a:t>
            </a:r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Sum categories (3-of-a-kind, Chance) open the keypad instead.</a:t>
            </a:r>
            <a:endParaRPr lang="en-US" sz="1275" dirty="0"/>
          </a:p>
        </p:txBody>
      </p:sp>
      <p:sp>
        <p:nvSpPr>
          <p:cNvPr id="417" name="Text 415"/>
          <p:cNvSpPr/>
          <p:nvPr/>
        </p:nvSpPr>
        <p:spPr>
          <a:xfrm>
            <a:off x="9639300" y="24598313"/>
            <a:ext cx="182880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see everyone at once (paper-card feel), tiny tap targets.</a:t>
            </a:r>
            <a:endParaRPr lang="en-US" sz="1350" dirty="0"/>
          </a:p>
        </p:txBody>
      </p:sp>
      <p:sp>
        <p:nvSpPr>
          <p:cNvPr id="418" name="Text 416"/>
          <p:cNvSpPr/>
          <p:nvPr/>
        </p:nvSpPr>
        <p:spPr>
          <a:xfrm>
            <a:off x="9639300" y="25444996"/>
            <a:ext cx="182880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highlight>
                  <a:srgbClr val="F6E98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big targets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upper-bonus progress bar, one player at a time.</a:t>
            </a:r>
            <a:endParaRPr lang="en-US" sz="1350" dirty="0"/>
          </a:p>
        </p:txBody>
      </p:sp>
      <p:sp>
        <p:nvSpPr>
          <p:cNvPr id="419" name="Text 417"/>
          <p:cNvSpPr/>
          <p:nvPr/>
        </p:nvSpPr>
        <p:spPr>
          <a:xfrm>
            <a:off x="9639300" y="26291679"/>
            <a:ext cx="182880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+35 and grand total are always auto — shaded, never tappable.</a:t>
            </a:r>
            <a:endParaRPr lang="en-US" sz="1350" dirty="0"/>
          </a:p>
        </p:txBody>
      </p:sp>
      <p:sp>
        <p:nvSpPr>
          <p:cNvPr id="420" name="Text 418"/>
          <p:cNvSpPr/>
          <p:nvPr/>
        </p:nvSpPr>
        <p:spPr>
          <a:xfrm>
            <a:off x="533400" y="30918150"/>
            <a:ext cx="123907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Tablet / desktop</a:t>
            </a:r>
            <a:endParaRPr lang="en-US" sz="2550" dirty="0"/>
          </a:p>
        </p:txBody>
      </p:sp>
      <p:sp>
        <p:nvSpPr>
          <p:cNvPr id="421" name="Shape 419"/>
          <p:cNvSpPr/>
          <p:nvPr/>
        </p:nvSpPr>
        <p:spPr>
          <a:xfrm>
            <a:off x="533400" y="31308675"/>
            <a:ext cx="1143000" cy="47625"/>
          </a:xfrm>
          <a:prstGeom prst="roundRect">
            <a:avLst>
              <a:gd name="adj" fmla="val 50000"/>
            </a:avLst>
          </a:prstGeom>
          <a:solidFill>
            <a:srgbClr val="2B2A28"/>
          </a:solidFill>
          <a:ln/>
        </p:spPr>
      </p:sp>
      <p:sp>
        <p:nvSpPr>
          <p:cNvPr id="422" name="Text 420"/>
          <p:cNvSpPr/>
          <p:nvPr/>
        </p:nvSpPr>
        <p:spPr>
          <a:xfrm>
            <a:off x="533400" y="31413450"/>
            <a:ext cx="123907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F6C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Wider canvas removes the horizontal scroll: full grid on the left, persistent standings + controls on the right.</a:t>
            </a:r>
            <a:endParaRPr lang="en-US" sz="975" dirty="0"/>
          </a:p>
        </p:txBody>
      </p:sp>
      <p:sp>
        <p:nvSpPr>
          <p:cNvPr id="423" name="Text 421"/>
          <p:cNvSpPr/>
          <p:nvPr/>
        </p:nvSpPr>
        <p:spPr>
          <a:xfrm>
            <a:off x="571500" y="31775400"/>
            <a:ext cx="196985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F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10 — two-pane</a:t>
            </a:r>
            <a:endParaRPr lang="en-US" sz="1425" dirty="0"/>
          </a:p>
        </p:txBody>
      </p:sp>
      <p:sp>
        <p:nvSpPr>
          <p:cNvPr id="424" name="Shape 422"/>
          <p:cNvSpPr/>
          <p:nvPr/>
        </p:nvSpPr>
        <p:spPr>
          <a:xfrm>
            <a:off x="533400" y="32075438"/>
            <a:ext cx="7239000" cy="47625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2B2A28"/>
            </a:solidFill>
            <a:prstDash val="solid"/>
          </a:ln>
          <a:effectLst>
            <a:outerShdw sx="100000" sy="100000" kx="0" ky="0" algn="bl" rotWithShape="0" blurRad="101600" dist="40411" dir="2700000">
              <a:srgbClr val="2B2A28">
                <a:alpha val="12000"/>
              </a:srgbClr>
            </a:outerShdw>
          </a:effectLst>
        </p:spPr>
      </p:sp>
      <p:sp>
        <p:nvSpPr>
          <p:cNvPr id="425" name="Shape 423"/>
          <p:cNvSpPr/>
          <p:nvPr/>
        </p:nvSpPr>
        <p:spPr>
          <a:xfrm>
            <a:off x="5543550" y="32094488"/>
            <a:ext cx="19050" cy="4724400"/>
          </a:xfrm>
          <a:prstGeom prst="rect">
            <a:avLst/>
          </a:prstGeom>
          <a:solidFill>
            <a:srgbClr val="2B2A28"/>
          </a:solidFill>
          <a:ln/>
        </p:spPr>
      </p:sp>
      <p:sp>
        <p:nvSpPr>
          <p:cNvPr id="426" name="Text 424"/>
          <p:cNvSpPr/>
          <p:nvPr/>
        </p:nvSpPr>
        <p:spPr>
          <a:xfrm>
            <a:off x="723900" y="32265938"/>
            <a:ext cx="153110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10 · Round 5</a:t>
            </a:r>
            <a:endParaRPr lang="en-US" sz="1200" dirty="0"/>
          </a:p>
        </p:txBody>
      </p:sp>
      <p:sp>
        <p:nvSpPr>
          <p:cNvPr id="427" name="Text 425"/>
          <p:cNvSpPr/>
          <p:nvPr/>
        </p:nvSpPr>
        <p:spPr>
          <a:xfrm>
            <a:off x="4594845" y="32289750"/>
            <a:ext cx="85345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started 8:12pm</a:t>
            </a:r>
            <a:endParaRPr lang="en-US" sz="900" dirty="0"/>
          </a:p>
        </p:txBody>
      </p:sp>
      <p:sp>
        <p:nvSpPr>
          <p:cNvPr id="428" name="Shape 426"/>
          <p:cNvSpPr/>
          <p:nvPr/>
        </p:nvSpPr>
        <p:spPr>
          <a:xfrm>
            <a:off x="723900" y="32799337"/>
            <a:ext cx="4648200" cy="19050"/>
          </a:xfrm>
          <a:prstGeom prst="rect">
            <a:avLst/>
          </a:prstGeom>
          <a:solidFill>
            <a:srgbClr val="2B2A28"/>
          </a:solidFill>
          <a:ln/>
        </p:spPr>
      </p:sp>
      <p:sp>
        <p:nvSpPr>
          <p:cNvPr id="429" name="Text 427"/>
          <p:cNvSpPr/>
          <p:nvPr/>
        </p:nvSpPr>
        <p:spPr>
          <a:xfrm>
            <a:off x="723900" y="32585025"/>
            <a:ext cx="5334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Rd</a:t>
            </a:r>
            <a:endParaRPr lang="en-US" sz="900" dirty="0"/>
          </a:p>
        </p:txBody>
      </p:sp>
      <p:sp>
        <p:nvSpPr>
          <p:cNvPr id="430" name="Text 428"/>
          <p:cNvSpPr/>
          <p:nvPr/>
        </p:nvSpPr>
        <p:spPr>
          <a:xfrm>
            <a:off x="1143000" y="32585025"/>
            <a:ext cx="11239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Alex </a:t>
            </a:r>
            <a:pPr algn="ctr" indent="0" marL="0">
              <a:buNone/>
            </a:pPr>
            <a:r>
              <a:rPr lang="en-US" sz="750" b="1" dirty="0">
                <a:solidFill>
                  <a:srgbClr val="3866C4"/>
                </a:solidFill>
                <a:highlight>
                  <a:srgbClr val="E2E9F7"/>
                </a:highlight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P4</a:t>
            </a:r>
            <a:endParaRPr lang="en-US" sz="900" dirty="0"/>
          </a:p>
        </p:txBody>
      </p:sp>
      <p:sp>
        <p:nvSpPr>
          <p:cNvPr id="431" name="Text 429"/>
          <p:cNvSpPr/>
          <p:nvPr/>
        </p:nvSpPr>
        <p:spPr>
          <a:xfrm>
            <a:off x="2190750" y="32585025"/>
            <a:ext cx="11239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 </a:t>
            </a:r>
            <a:pPr algn="ctr" indent="0" marL="0">
              <a:buNone/>
            </a:pPr>
            <a:r>
              <a:rPr lang="en-US" sz="750" b="1" dirty="0">
                <a:solidFill>
                  <a:srgbClr val="3866C4"/>
                </a:solidFill>
                <a:highlight>
                  <a:srgbClr val="E2E9F7"/>
                </a:highlight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P3</a:t>
            </a:r>
            <a:endParaRPr lang="en-US" sz="900" dirty="0"/>
          </a:p>
        </p:txBody>
      </p:sp>
      <p:sp>
        <p:nvSpPr>
          <p:cNvPr id="432" name="Text 430"/>
          <p:cNvSpPr/>
          <p:nvPr/>
        </p:nvSpPr>
        <p:spPr>
          <a:xfrm>
            <a:off x="3238500" y="32585025"/>
            <a:ext cx="11239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Jordan </a:t>
            </a:r>
            <a:pPr algn="ctr" indent="0" marL="0">
              <a:buNone/>
            </a:pPr>
            <a:r>
              <a:rPr lang="en-US" sz="750" b="1" dirty="0">
                <a:solidFill>
                  <a:srgbClr val="3866C4"/>
                </a:solidFill>
                <a:highlight>
                  <a:srgbClr val="E2E9F7"/>
                </a:highlight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P6</a:t>
            </a:r>
            <a:endParaRPr lang="en-US" sz="900" dirty="0"/>
          </a:p>
        </p:txBody>
      </p:sp>
      <p:sp>
        <p:nvSpPr>
          <p:cNvPr id="433" name="Text 431"/>
          <p:cNvSpPr/>
          <p:nvPr/>
        </p:nvSpPr>
        <p:spPr>
          <a:xfrm>
            <a:off x="4286250" y="32585025"/>
            <a:ext cx="11239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Casey </a:t>
            </a:r>
            <a:pPr algn="ctr" indent="0" marL="0">
              <a:buNone/>
            </a:pPr>
            <a:r>
              <a:rPr lang="en-US" sz="750" b="1" dirty="0">
                <a:solidFill>
                  <a:srgbClr val="3866C4"/>
                </a:solidFill>
                <a:highlight>
                  <a:srgbClr val="E2E9F7"/>
                </a:highlight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P2</a:t>
            </a:r>
            <a:endParaRPr lang="en-US" sz="900" dirty="0"/>
          </a:p>
        </p:txBody>
      </p:sp>
      <p:sp>
        <p:nvSpPr>
          <p:cNvPr id="434" name="Text 432"/>
          <p:cNvSpPr/>
          <p:nvPr/>
        </p:nvSpPr>
        <p:spPr>
          <a:xfrm>
            <a:off x="723900" y="32894588"/>
            <a:ext cx="533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R1</a:t>
            </a:r>
            <a:endParaRPr lang="en-US" sz="975" dirty="0"/>
          </a:p>
        </p:txBody>
      </p:sp>
      <p:sp>
        <p:nvSpPr>
          <p:cNvPr id="435" name="Text 433"/>
          <p:cNvSpPr/>
          <p:nvPr/>
        </p:nvSpPr>
        <p:spPr>
          <a:xfrm>
            <a:off x="1143000" y="32894588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</a:t>
            </a:r>
            <a:endParaRPr lang="en-US" sz="975" dirty="0"/>
          </a:p>
        </p:txBody>
      </p:sp>
      <p:sp>
        <p:nvSpPr>
          <p:cNvPr id="436" name="Text 434"/>
          <p:cNvSpPr/>
          <p:nvPr/>
        </p:nvSpPr>
        <p:spPr>
          <a:xfrm>
            <a:off x="2190750" y="32894588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</a:t>
            </a:r>
            <a:endParaRPr lang="en-US" sz="975" dirty="0"/>
          </a:p>
        </p:txBody>
      </p:sp>
      <p:sp>
        <p:nvSpPr>
          <p:cNvPr id="437" name="Text 435"/>
          <p:cNvSpPr/>
          <p:nvPr/>
        </p:nvSpPr>
        <p:spPr>
          <a:xfrm>
            <a:off x="3238500" y="32894588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975" dirty="0"/>
          </a:p>
        </p:txBody>
      </p:sp>
      <p:sp>
        <p:nvSpPr>
          <p:cNvPr id="438" name="Text 436"/>
          <p:cNvSpPr/>
          <p:nvPr/>
        </p:nvSpPr>
        <p:spPr>
          <a:xfrm>
            <a:off x="4286250" y="32894588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975" dirty="0"/>
          </a:p>
        </p:txBody>
      </p:sp>
      <p:sp>
        <p:nvSpPr>
          <p:cNvPr id="439" name="Text 437"/>
          <p:cNvSpPr/>
          <p:nvPr/>
        </p:nvSpPr>
        <p:spPr>
          <a:xfrm>
            <a:off x="723900" y="33113662"/>
            <a:ext cx="533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R2</a:t>
            </a:r>
            <a:endParaRPr lang="en-US" sz="975" dirty="0"/>
          </a:p>
        </p:txBody>
      </p:sp>
      <p:sp>
        <p:nvSpPr>
          <p:cNvPr id="440" name="Text 438"/>
          <p:cNvSpPr/>
          <p:nvPr/>
        </p:nvSpPr>
        <p:spPr>
          <a:xfrm>
            <a:off x="1143000" y="33113662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endParaRPr lang="en-US" sz="975" dirty="0"/>
          </a:p>
        </p:txBody>
      </p:sp>
      <p:sp>
        <p:nvSpPr>
          <p:cNvPr id="441" name="Text 439"/>
          <p:cNvSpPr/>
          <p:nvPr/>
        </p:nvSpPr>
        <p:spPr>
          <a:xfrm>
            <a:off x="2190750" y="33113662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</a:t>
            </a:r>
            <a:endParaRPr lang="en-US" sz="975" dirty="0"/>
          </a:p>
        </p:txBody>
      </p:sp>
      <p:sp>
        <p:nvSpPr>
          <p:cNvPr id="442" name="Text 440"/>
          <p:cNvSpPr/>
          <p:nvPr/>
        </p:nvSpPr>
        <p:spPr>
          <a:xfrm>
            <a:off x="3238500" y="33113662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975" dirty="0"/>
          </a:p>
        </p:txBody>
      </p:sp>
      <p:sp>
        <p:nvSpPr>
          <p:cNvPr id="443" name="Text 441"/>
          <p:cNvSpPr/>
          <p:nvPr/>
        </p:nvSpPr>
        <p:spPr>
          <a:xfrm>
            <a:off x="4286250" y="33113662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endParaRPr lang="en-US" sz="975" dirty="0"/>
          </a:p>
        </p:txBody>
      </p:sp>
      <p:sp>
        <p:nvSpPr>
          <p:cNvPr id="444" name="Text 442"/>
          <p:cNvSpPr/>
          <p:nvPr/>
        </p:nvSpPr>
        <p:spPr>
          <a:xfrm>
            <a:off x="723900" y="33332738"/>
            <a:ext cx="533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R3</a:t>
            </a:r>
            <a:endParaRPr lang="en-US" sz="975" dirty="0"/>
          </a:p>
        </p:txBody>
      </p:sp>
      <p:sp>
        <p:nvSpPr>
          <p:cNvPr id="445" name="Text 443"/>
          <p:cNvSpPr/>
          <p:nvPr/>
        </p:nvSpPr>
        <p:spPr>
          <a:xfrm>
            <a:off x="1143000" y="33332738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975" dirty="0"/>
          </a:p>
        </p:txBody>
      </p:sp>
      <p:sp>
        <p:nvSpPr>
          <p:cNvPr id="446" name="Text 444"/>
          <p:cNvSpPr/>
          <p:nvPr/>
        </p:nvSpPr>
        <p:spPr>
          <a:xfrm>
            <a:off x="2190750" y="33332738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</a:t>
            </a:r>
            <a:endParaRPr lang="en-US" sz="975" dirty="0"/>
          </a:p>
        </p:txBody>
      </p:sp>
      <p:sp>
        <p:nvSpPr>
          <p:cNvPr id="447" name="Text 445"/>
          <p:cNvSpPr/>
          <p:nvPr/>
        </p:nvSpPr>
        <p:spPr>
          <a:xfrm>
            <a:off x="3238500" y="33332738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975" dirty="0"/>
          </a:p>
        </p:txBody>
      </p:sp>
      <p:sp>
        <p:nvSpPr>
          <p:cNvPr id="448" name="Text 446"/>
          <p:cNvSpPr/>
          <p:nvPr/>
        </p:nvSpPr>
        <p:spPr>
          <a:xfrm>
            <a:off x="4286250" y="33332738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</a:t>
            </a:r>
            <a:endParaRPr lang="en-US" sz="975" dirty="0"/>
          </a:p>
        </p:txBody>
      </p:sp>
      <p:sp>
        <p:nvSpPr>
          <p:cNvPr id="449" name="Text 447"/>
          <p:cNvSpPr/>
          <p:nvPr/>
        </p:nvSpPr>
        <p:spPr>
          <a:xfrm>
            <a:off x="723900" y="33551813"/>
            <a:ext cx="533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R4</a:t>
            </a:r>
            <a:endParaRPr lang="en-US" sz="975" dirty="0"/>
          </a:p>
        </p:txBody>
      </p:sp>
      <p:sp>
        <p:nvSpPr>
          <p:cNvPr id="450" name="Text 448"/>
          <p:cNvSpPr/>
          <p:nvPr/>
        </p:nvSpPr>
        <p:spPr>
          <a:xfrm>
            <a:off x="1143000" y="33551813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975" dirty="0"/>
          </a:p>
        </p:txBody>
      </p:sp>
      <p:sp>
        <p:nvSpPr>
          <p:cNvPr id="451" name="Text 449"/>
          <p:cNvSpPr/>
          <p:nvPr/>
        </p:nvSpPr>
        <p:spPr>
          <a:xfrm>
            <a:off x="2190750" y="33551813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975" dirty="0"/>
          </a:p>
        </p:txBody>
      </p:sp>
      <p:sp>
        <p:nvSpPr>
          <p:cNvPr id="452" name="Text 450"/>
          <p:cNvSpPr/>
          <p:nvPr/>
        </p:nvSpPr>
        <p:spPr>
          <a:xfrm>
            <a:off x="3238500" y="33551813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975" dirty="0"/>
          </a:p>
        </p:txBody>
      </p:sp>
      <p:sp>
        <p:nvSpPr>
          <p:cNvPr id="453" name="Text 451"/>
          <p:cNvSpPr/>
          <p:nvPr/>
        </p:nvSpPr>
        <p:spPr>
          <a:xfrm>
            <a:off x="4286250" y="33551813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975" dirty="0"/>
          </a:p>
        </p:txBody>
      </p:sp>
      <p:sp>
        <p:nvSpPr>
          <p:cNvPr id="454" name="Shape 452"/>
          <p:cNvSpPr/>
          <p:nvPr/>
        </p:nvSpPr>
        <p:spPr>
          <a:xfrm>
            <a:off x="723900" y="33770888"/>
            <a:ext cx="4648200" cy="266700"/>
          </a:xfrm>
          <a:prstGeom prst="roundRect">
            <a:avLst>
              <a:gd name="adj" fmla="val 28571"/>
            </a:avLst>
          </a:prstGeom>
          <a:solidFill>
            <a:srgbClr val="EEF3FB"/>
          </a:solidFill>
          <a:ln/>
        </p:spPr>
      </p:sp>
      <p:sp>
        <p:nvSpPr>
          <p:cNvPr id="455" name="Text 453"/>
          <p:cNvSpPr/>
          <p:nvPr/>
        </p:nvSpPr>
        <p:spPr>
          <a:xfrm>
            <a:off x="685800" y="33828038"/>
            <a:ext cx="533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866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R5</a:t>
            </a:r>
            <a:endParaRPr lang="en-US" sz="975" dirty="0"/>
          </a:p>
        </p:txBody>
      </p:sp>
      <p:sp>
        <p:nvSpPr>
          <p:cNvPr id="456" name="Shape 454"/>
          <p:cNvSpPr/>
          <p:nvPr/>
        </p:nvSpPr>
        <p:spPr>
          <a:xfrm>
            <a:off x="1471613" y="33761363"/>
            <a:ext cx="466725" cy="280988"/>
          </a:xfrm>
          <a:prstGeom prst="roundRect">
            <a:avLst>
              <a:gd name="adj" fmla="val 23729"/>
            </a:avLst>
          </a:prstGeom>
          <a:ln w="19050">
            <a:solidFill>
              <a:srgbClr val="3866C4"/>
            </a:solidFill>
            <a:prstDash val="solid"/>
          </a:ln>
        </p:spPr>
      </p:sp>
      <p:sp>
        <p:nvSpPr>
          <p:cNvPr id="457" name="Text 455"/>
          <p:cNvSpPr/>
          <p:nvPr/>
        </p:nvSpPr>
        <p:spPr>
          <a:xfrm>
            <a:off x="1604963" y="33828038"/>
            <a:ext cx="20002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</a:t>
            </a:r>
            <a:endParaRPr lang="en-US" sz="975" dirty="0"/>
          </a:p>
        </p:txBody>
      </p:sp>
      <p:sp>
        <p:nvSpPr>
          <p:cNvPr id="458" name="Shape 456"/>
          <p:cNvSpPr/>
          <p:nvPr/>
        </p:nvSpPr>
        <p:spPr>
          <a:xfrm>
            <a:off x="2519363" y="33761363"/>
            <a:ext cx="466725" cy="280988"/>
          </a:xfrm>
          <a:prstGeom prst="roundRect">
            <a:avLst>
              <a:gd name="adj" fmla="val 23729"/>
            </a:avLst>
          </a:prstGeom>
          <a:ln w="19050">
            <a:solidFill>
              <a:srgbClr val="3866C4"/>
            </a:solidFill>
            <a:prstDash val="solid"/>
          </a:ln>
        </p:spPr>
      </p:sp>
      <p:sp>
        <p:nvSpPr>
          <p:cNvPr id="459" name="Text 457"/>
          <p:cNvSpPr/>
          <p:nvPr/>
        </p:nvSpPr>
        <p:spPr>
          <a:xfrm>
            <a:off x="2652713" y="33828038"/>
            <a:ext cx="20002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</a:t>
            </a:r>
            <a:endParaRPr lang="en-US" sz="975" dirty="0"/>
          </a:p>
        </p:txBody>
      </p:sp>
      <p:sp>
        <p:nvSpPr>
          <p:cNvPr id="460" name="Shape 458"/>
          <p:cNvSpPr/>
          <p:nvPr/>
        </p:nvSpPr>
        <p:spPr>
          <a:xfrm>
            <a:off x="3567113" y="33761363"/>
            <a:ext cx="466725" cy="280988"/>
          </a:xfrm>
          <a:prstGeom prst="roundRect">
            <a:avLst>
              <a:gd name="adj" fmla="val 23729"/>
            </a:avLst>
          </a:prstGeom>
          <a:ln w="19050">
            <a:solidFill>
              <a:srgbClr val="3866C4"/>
            </a:solidFill>
            <a:prstDash val="solid"/>
          </a:ln>
        </p:spPr>
      </p:sp>
      <p:sp>
        <p:nvSpPr>
          <p:cNvPr id="461" name="Text 459"/>
          <p:cNvSpPr/>
          <p:nvPr/>
        </p:nvSpPr>
        <p:spPr>
          <a:xfrm>
            <a:off x="3700462" y="33828038"/>
            <a:ext cx="20002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</a:t>
            </a:r>
            <a:endParaRPr lang="en-US" sz="975" dirty="0"/>
          </a:p>
        </p:txBody>
      </p:sp>
      <p:sp>
        <p:nvSpPr>
          <p:cNvPr id="462" name="Shape 460"/>
          <p:cNvSpPr/>
          <p:nvPr/>
        </p:nvSpPr>
        <p:spPr>
          <a:xfrm>
            <a:off x="4614863" y="33761363"/>
            <a:ext cx="466725" cy="280988"/>
          </a:xfrm>
          <a:prstGeom prst="roundRect">
            <a:avLst>
              <a:gd name="adj" fmla="val 23729"/>
            </a:avLst>
          </a:prstGeom>
          <a:ln w="19050">
            <a:solidFill>
              <a:srgbClr val="3866C4"/>
            </a:solidFill>
            <a:prstDash val="solid"/>
          </a:ln>
        </p:spPr>
      </p:sp>
      <p:sp>
        <p:nvSpPr>
          <p:cNvPr id="463" name="Text 461"/>
          <p:cNvSpPr/>
          <p:nvPr/>
        </p:nvSpPr>
        <p:spPr>
          <a:xfrm>
            <a:off x="4748213" y="33828038"/>
            <a:ext cx="20002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</a:t>
            </a:r>
            <a:endParaRPr lang="en-US" sz="975" dirty="0"/>
          </a:p>
        </p:txBody>
      </p:sp>
      <p:sp>
        <p:nvSpPr>
          <p:cNvPr id="464" name="Shape 462"/>
          <p:cNvSpPr/>
          <p:nvPr/>
        </p:nvSpPr>
        <p:spPr>
          <a:xfrm>
            <a:off x="723900" y="36328350"/>
            <a:ext cx="4648200" cy="19050"/>
          </a:xfrm>
          <a:prstGeom prst="rect">
            <a:avLst/>
          </a:prstGeom>
          <a:solidFill>
            <a:srgbClr val="2B2A28"/>
          </a:solidFill>
          <a:ln/>
        </p:spPr>
      </p:sp>
      <p:sp>
        <p:nvSpPr>
          <p:cNvPr id="465" name="Text 463"/>
          <p:cNvSpPr/>
          <p:nvPr/>
        </p:nvSpPr>
        <p:spPr>
          <a:xfrm>
            <a:off x="723900" y="36461700"/>
            <a:ext cx="5334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Total</a:t>
            </a:r>
            <a:endParaRPr lang="en-US" sz="1200" dirty="0"/>
          </a:p>
        </p:txBody>
      </p:sp>
      <p:sp>
        <p:nvSpPr>
          <p:cNvPr id="466" name="Text 464"/>
          <p:cNvSpPr/>
          <p:nvPr/>
        </p:nvSpPr>
        <p:spPr>
          <a:xfrm>
            <a:off x="1143000" y="36461700"/>
            <a:ext cx="11239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8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75 ♛</a:t>
            </a:r>
            <a:endParaRPr lang="en-US" sz="1200" dirty="0"/>
          </a:p>
        </p:txBody>
      </p:sp>
      <p:sp>
        <p:nvSpPr>
          <p:cNvPr id="467" name="Text 465"/>
          <p:cNvSpPr/>
          <p:nvPr/>
        </p:nvSpPr>
        <p:spPr>
          <a:xfrm>
            <a:off x="2190750" y="36461700"/>
            <a:ext cx="11239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130</a:t>
            </a:r>
            <a:endParaRPr lang="en-US" sz="1200" dirty="0"/>
          </a:p>
        </p:txBody>
      </p:sp>
      <p:sp>
        <p:nvSpPr>
          <p:cNvPr id="468" name="Text 466"/>
          <p:cNvSpPr/>
          <p:nvPr/>
        </p:nvSpPr>
        <p:spPr>
          <a:xfrm>
            <a:off x="3238500" y="36461700"/>
            <a:ext cx="11239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85</a:t>
            </a:r>
            <a:endParaRPr lang="en-US" sz="1200" dirty="0"/>
          </a:p>
        </p:txBody>
      </p:sp>
      <p:sp>
        <p:nvSpPr>
          <p:cNvPr id="469" name="Text 467"/>
          <p:cNvSpPr/>
          <p:nvPr/>
        </p:nvSpPr>
        <p:spPr>
          <a:xfrm>
            <a:off x="4286250" y="36461700"/>
            <a:ext cx="11239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</a:t>
            </a:r>
            <a:endParaRPr lang="en-US" sz="1200" dirty="0"/>
          </a:p>
        </p:txBody>
      </p:sp>
      <p:sp>
        <p:nvSpPr>
          <p:cNvPr id="470" name="Shape 468"/>
          <p:cNvSpPr/>
          <p:nvPr/>
        </p:nvSpPr>
        <p:spPr>
          <a:xfrm>
            <a:off x="5562600" y="32094488"/>
            <a:ext cx="2190750" cy="4724400"/>
          </a:xfrm>
          <a:prstGeom prst="rect">
            <a:avLst/>
          </a:prstGeom>
          <a:solidFill>
            <a:srgbClr val="FAF9F6"/>
          </a:solidFill>
          <a:ln/>
        </p:spPr>
      </p:sp>
      <p:sp>
        <p:nvSpPr>
          <p:cNvPr id="471" name="Text 469"/>
          <p:cNvSpPr/>
          <p:nvPr/>
        </p:nvSpPr>
        <p:spPr>
          <a:xfrm>
            <a:off x="5734050" y="32265938"/>
            <a:ext cx="203263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STANDINGS · LOWEST WINS</a:t>
            </a:r>
            <a:endParaRPr lang="en-US" sz="825" dirty="0"/>
          </a:p>
        </p:txBody>
      </p:sp>
      <p:sp>
        <p:nvSpPr>
          <p:cNvPr id="472" name="Shape 470"/>
          <p:cNvSpPr/>
          <p:nvPr/>
        </p:nvSpPr>
        <p:spPr>
          <a:xfrm>
            <a:off x="5734050" y="32489775"/>
            <a:ext cx="1847850" cy="395288"/>
          </a:xfrm>
          <a:prstGeom prst="roundRect">
            <a:avLst>
              <a:gd name="adj" fmla="val 24096"/>
            </a:avLst>
          </a:prstGeom>
          <a:solidFill>
            <a:srgbClr val="E6F0E9"/>
          </a:solidFill>
          <a:ln w="19050">
            <a:solidFill>
              <a:srgbClr val="4A8A5C"/>
            </a:solidFill>
            <a:prstDash val="solid"/>
          </a:ln>
        </p:spPr>
      </p:sp>
      <p:sp>
        <p:nvSpPr>
          <p:cNvPr id="473" name="Text 471"/>
          <p:cNvSpPr/>
          <p:nvPr/>
        </p:nvSpPr>
        <p:spPr>
          <a:xfrm>
            <a:off x="5838825" y="32594550"/>
            <a:ext cx="16795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8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♛</a:t>
            </a:r>
            <a:endParaRPr lang="en-US" sz="1200" dirty="0"/>
          </a:p>
        </p:txBody>
      </p:sp>
      <p:sp>
        <p:nvSpPr>
          <p:cNvPr id="474" name="Shape 472"/>
          <p:cNvSpPr/>
          <p:nvPr/>
        </p:nvSpPr>
        <p:spPr>
          <a:xfrm>
            <a:off x="6006778" y="32630269"/>
            <a:ext cx="114300" cy="114300"/>
          </a:xfrm>
          <a:prstGeom prst="ellipse">
            <a:avLst/>
          </a:prstGeom>
          <a:solidFill>
            <a:srgbClr val="3866C4"/>
          </a:solidFill>
          <a:ln/>
        </p:spPr>
      </p:sp>
      <p:sp>
        <p:nvSpPr>
          <p:cNvPr id="475" name="Text 473"/>
          <p:cNvSpPr/>
          <p:nvPr/>
        </p:nvSpPr>
        <p:spPr>
          <a:xfrm>
            <a:off x="6197278" y="32611219"/>
            <a:ext cx="11103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Alex</a:t>
            </a:r>
            <a:endParaRPr lang="en-US" sz="975" dirty="0"/>
          </a:p>
        </p:txBody>
      </p:sp>
      <p:sp>
        <p:nvSpPr>
          <p:cNvPr id="476" name="Text 474"/>
          <p:cNvSpPr/>
          <p:nvPr/>
        </p:nvSpPr>
        <p:spPr>
          <a:xfrm>
            <a:off x="7307610" y="32594550"/>
            <a:ext cx="24571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75</a:t>
            </a:r>
            <a:endParaRPr lang="en-US" sz="1200" dirty="0"/>
          </a:p>
        </p:txBody>
      </p:sp>
      <p:sp>
        <p:nvSpPr>
          <p:cNvPr id="477" name="Text 475"/>
          <p:cNvSpPr/>
          <p:nvPr/>
        </p:nvSpPr>
        <p:spPr>
          <a:xfrm>
            <a:off x="5819775" y="33070800"/>
            <a:ext cx="2095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900" dirty="0"/>
          </a:p>
        </p:txBody>
      </p:sp>
      <p:sp>
        <p:nvSpPr>
          <p:cNvPr id="478" name="Shape 476"/>
          <p:cNvSpPr/>
          <p:nvPr/>
        </p:nvSpPr>
        <p:spPr>
          <a:xfrm>
            <a:off x="6029325" y="33082706"/>
            <a:ext cx="114300" cy="114300"/>
          </a:xfrm>
          <a:prstGeom prst="ellipse">
            <a:avLst/>
          </a:prstGeom>
          <a:solidFill>
            <a:srgbClr val="7A5FB0"/>
          </a:solidFill>
          <a:ln/>
        </p:spPr>
      </p:sp>
      <p:sp>
        <p:nvSpPr>
          <p:cNvPr id="479" name="Text 477"/>
          <p:cNvSpPr/>
          <p:nvPr/>
        </p:nvSpPr>
        <p:spPr>
          <a:xfrm>
            <a:off x="6219825" y="33063656"/>
            <a:ext cx="11068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Casey</a:t>
            </a:r>
            <a:endParaRPr lang="en-US" sz="975" dirty="0"/>
          </a:p>
        </p:txBody>
      </p:sp>
      <p:sp>
        <p:nvSpPr>
          <p:cNvPr id="480" name="Text 478"/>
          <p:cNvSpPr/>
          <p:nvPr/>
        </p:nvSpPr>
        <p:spPr>
          <a:xfrm>
            <a:off x="7326660" y="33046988"/>
            <a:ext cx="24571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</a:t>
            </a:r>
            <a:endParaRPr lang="en-US" sz="1200" dirty="0"/>
          </a:p>
        </p:txBody>
      </p:sp>
      <p:sp>
        <p:nvSpPr>
          <p:cNvPr id="481" name="Text 479"/>
          <p:cNvSpPr/>
          <p:nvPr/>
        </p:nvSpPr>
        <p:spPr>
          <a:xfrm>
            <a:off x="5819775" y="33504188"/>
            <a:ext cx="2095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900" dirty="0"/>
          </a:p>
        </p:txBody>
      </p:sp>
      <p:sp>
        <p:nvSpPr>
          <p:cNvPr id="482" name="Shape 480"/>
          <p:cNvSpPr/>
          <p:nvPr/>
        </p:nvSpPr>
        <p:spPr>
          <a:xfrm>
            <a:off x="6029325" y="33516094"/>
            <a:ext cx="114300" cy="114300"/>
          </a:xfrm>
          <a:prstGeom prst="ellipse">
            <a:avLst/>
          </a:prstGeom>
          <a:solidFill>
            <a:srgbClr val="C4683A"/>
          </a:solidFill>
          <a:ln/>
        </p:spPr>
      </p:sp>
      <p:sp>
        <p:nvSpPr>
          <p:cNvPr id="483" name="Text 481"/>
          <p:cNvSpPr/>
          <p:nvPr/>
        </p:nvSpPr>
        <p:spPr>
          <a:xfrm>
            <a:off x="6219825" y="33497044"/>
            <a:ext cx="11068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Jordan</a:t>
            </a:r>
            <a:endParaRPr lang="en-US" sz="975" dirty="0"/>
          </a:p>
        </p:txBody>
      </p:sp>
      <p:sp>
        <p:nvSpPr>
          <p:cNvPr id="484" name="Text 482"/>
          <p:cNvSpPr/>
          <p:nvPr/>
        </p:nvSpPr>
        <p:spPr>
          <a:xfrm>
            <a:off x="7326660" y="33480375"/>
            <a:ext cx="24571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85</a:t>
            </a:r>
            <a:endParaRPr lang="en-US" sz="1200" dirty="0"/>
          </a:p>
        </p:txBody>
      </p:sp>
      <p:sp>
        <p:nvSpPr>
          <p:cNvPr id="485" name="Text 483"/>
          <p:cNvSpPr/>
          <p:nvPr/>
        </p:nvSpPr>
        <p:spPr>
          <a:xfrm>
            <a:off x="5819775" y="33937575"/>
            <a:ext cx="2095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7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900" dirty="0"/>
          </a:p>
        </p:txBody>
      </p:sp>
      <p:sp>
        <p:nvSpPr>
          <p:cNvPr id="486" name="Shape 484"/>
          <p:cNvSpPr/>
          <p:nvPr/>
        </p:nvSpPr>
        <p:spPr>
          <a:xfrm>
            <a:off x="6029325" y="33949481"/>
            <a:ext cx="114300" cy="114300"/>
          </a:xfrm>
          <a:prstGeom prst="ellipse">
            <a:avLst/>
          </a:prstGeom>
          <a:solidFill>
            <a:srgbClr val="4A8A5C"/>
          </a:solidFill>
          <a:ln/>
        </p:spPr>
      </p:sp>
      <p:sp>
        <p:nvSpPr>
          <p:cNvPr id="487" name="Text 485"/>
          <p:cNvSpPr/>
          <p:nvPr/>
        </p:nvSpPr>
        <p:spPr>
          <a:xfrm>
            <a:off x="6219825" y="33930431"/>
            <a:ext cx="10220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</a:t>
            </a:r>
            <a:endParaRPr lang="en-US" sz="975" dirty="0"/>
          </a:p>
        </p:txBody>
      </p:sp>
      <p:sp>
        <p:nvSpPr>
          <p:cNvPr id="488" name="Text 486"/>
          <p:cNvSpPr/>
          <p:nvPr/>
        </p:nvSpPr>
        <p:spPr>
          <a:xfrm>
            <a:off x="7241902" y="33913763"/>
            <a:ext cx="33047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130</a:t>
            </a:r>
            <a:endParaRPr lang="en-US" sz="1200" dirty="0"/>
          </a:p>
        </p:txBody>
      </p:sp>
      <p:sp>
        <p:nvSpPr>
          <p:cNvPr id="489" name="Shape 487"/>
          <p:cNvSpPr/>
          <p:nvPr/>
        </p:nvSpPr>
        <p:spPr>
          <a:xfrm>
            <a:off x="5734050" y="35671125"/>
            <a:ext cx="1847850" cy="471488"/>
          </a:xfrm>
          <a:prstGeom prst="roundRect">
            <a:avLst>
              <a:gd name="adj" fmla="val 24242"/>
            </a:avLst>
          </a:prstGeom>
          <a:solidFill>
            <a:srgbClr val="3866C4"/>
          </a:solidFill>
          <a:ln w="19050">
            <a:solidFill>
              <a:srgbClr val="2B2A28"/>
            </a:solidFill>
            <a:prstDash val="solid"/>
          </a:ln>
        </p:spPr>
      </p:sp>
      <p:sp>
        <p:nvSpPr>
          <p:cNvPr id="490" name="Text 488"/>
          <p:cNvSpPr/>
          <p:nvPr/>
        </p:nvSpPr>
        <p:spPr>
          <a:xfrm>
            <a:off x="5838825" y="35814000"/>
            <a:ext cx="16383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Add round</a:t>
            </a:r>
            <a:endParaRPr lang="en-US" sz="1200" dirty="0"/>
          </a:p>
        </p:txBody>
      </p:sp>
      <p:sp>
        <p:nvSpPr>
          <p:cNvPr id="491" name="Shape 489"/>
          <p:cNvSpPr/>
          <p:nvPr/>
        </p:nvSpPr>
        <p:spPr>
          <a:xfrm>
            <a:off x="5734050" y="36228338"/>
            <a:ext cx="1847850" cy="419100"/>
          </a:xfrm>
          <a:prstGeom prst="roundRect">
            <a:avLst>
              <a:gd name="adj" fmla="val 27273"/>
            </a:avLst>
          </a:prstGeom>
          <a:ln w="19050">
            <a:solidFill>
              <a:srgbClr val="C4683A"/>
            </a:solidFill>
            <a:prstDash val="solid"/>
          </a:ln>
        </p:spPr>
      </p:sp>
      <p:sp>
        <p:nvSpPr>
          <p:cNvPr id="492" name="Text 490"/>
          <p:cNvSpPr/>
          <p:nvPr/>
        </p:nvSpPr>
        <p:spPr>
          <a:xfrm>
            <a:off x="5829300" y="36361688"/>
            <a:ext cx="16573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C46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 Game</a:t>
            </a:r>
            <a:endParaRPr lang="en-US" sz="975" dirty="0"/>
          </a:p>
        </p:txBody>
      </p:sp>
      <p:sp>
        <p:nvSpPr>
          <p:cNvPr id="493" name="Text 491"/>
          <p:cNvSpPr/>
          <p:nvPr/>
        </p:nvSpPr>
        <p:spPr>
          <a:xfrm>
            <a:off x="533400" y="36971288"/>
            <a:ext cx="745617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data model, more room: all players + rounds visible, standings persistent on the right.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highlight>
                  <a:srgbClr val="F6E98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Yahtzee adapts the same way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grid left, totals + bonus tracker right.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2026-06-19T02:53:59Z</dcterms:created>
  <dcterms:modified xsi:type="dcterms:W3CDTF">2026-06-19T02:53:59Z</dcterms:modified>
</cp:coreProperties>
</file>